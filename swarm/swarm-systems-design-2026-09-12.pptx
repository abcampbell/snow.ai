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summarize the systems designed in this conversation, with a clear distinction between working local scaffolding and future runtime/evaluation work. Source: README.md, FIRM.md, MEMORYNET.md, PERSONAS.md, LEARNING.md, ROLE_SKILLS.md. No claim of autonomous investment performance or complete remote trace backup.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local retrieval, thread maps, persona resolution, six verified starter skill files, review UIs. Planned: automatic swarm dispatch, live message routing, reliable automatic capture/backup, controlled evolution. Existing independent agent tools are not an integrated runtime in this repository. Sources: README.md; MEMORYNET.md; PERSONAS.md; FIRM.md.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Assessments are called judgments in the local model. Thread records collect references and annotations, not automatic copies of raw trace bytes. A source needs its origin, locator, capture cutoff and type. The search projection excludes recorded thinking, injected instructions and binary/encrypted fields; original native files remain distinct. Sources: README.md (Evidence and limits), MEMORYNET.md, FIRM.md.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labels Session A/B and Agent A1/A2 are illustrative labels, not claimed UUIDs. Catalogue UUIDs, native provider identities, thread UUIDs and specification identities are distinct. Known ancestry is recorded; sharing a handoff label does not establish parentage. A task is a bounded assignment linked to a run and thread; current scaffolding does not automatically register future executions. Sources: README.md catalogue format; MEMORYNET.md; FIRM.md.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base URL: http://127.0.0.1:8819. The server resolves recorded personas and verifies skill files; it does not start a model or launch the original agent. Copied prompts pin the persona version and content hash. GET /api/personas lists available runtime roles; the draft firm model includes additional roles that are not runnable. The current assignment is still needed; reading old work does not supply new authority. Sources: MEMORYNET.md, PERSONAS.md, memorynet_resume.py.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OODA is our first-principles mapping of the role loop, not a historical Grove runtime protocol. Real communication requires a bound recipient and a runtime. Current valid authorization persists; the agent should escalate actual missing inputs or decisions, not repeatedly ask for the same permission. Source: FIRM.md, PERSONAS.md, MEMORYNET.md.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16-role model, not a claim that all roles are active. The lanes contain: data lead, data engineer, source researcher, data reviewer; investment analyst; investment engineer and model reviewer; risk analyst and monitor; trading implementation. Support includes developer, frontend, and client service. With CIO, CRO and PM these total 16. Domain manager, task owner, execution parent and reviewer are separate relationships. Sources: FIRM.md, firm/operating-model.v1.json.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planned workflow; no workers were launched by this deck. Source-level review and collection-level validation are distinct. The data lead resolves missing/late branches under a stated budget and stop condition; accepted partial coverage must stay explicit. Each task has inputs, expected output, owner, reviewer, resource budget and next recipient. Country workers are not new personas. Source: FIRM.md country-research workflow.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library counts on September 12: 16 draft roles, 35 skill records. New procedure cards are metadata outlines, not installed SKILL.md files. Existing six starter files remain separately versioned and pinned in persona v2. Managers should load specialist mechanics only for a separately assigned specialist task. Every role has the proposed Pick up work and leave a handoff skill. Sources: ROLE_SKILLS.md; firm/operating-model.v1.json; role_skills/registry.json.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of findings: inspected local files, not a complete inventory of all possible vendor connectors. The oil handoff documents Haver DLX catalogue and data calls; grove/quant/bbg_updater.py has TODO provider implementations; inspected duration notes name a Yahoo refresh service without its endpoint. No vendor call or Rose write was made during this role/skill audit. Naming does not reserve or create an object. Sources: ROLE_SKILLS.md and source notes on the cards in firm/operating-model.v1.json.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saved risk system supplied examples for these skills. It is historical evidence, not current verification of holdings or services. Local source references include PortfolioRisk, timetraveler and broker snapshot/cross-check helpers; the audit inspected code without executing these calculations. Frozen volatility, proxy prices, financing, costs, missing positions and omitted trades are relevant replay assumptions. No current trading recommendation or result is asserted. Sources: ROLE_SKILLS.md and risk draft source notes.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bounded review used gpt-5.6-luna. The local mining script screens indexed passages and saves immutable evidence batches; the review UI checks source references and exact quotes. Screening is not a claim to have read every raw session. Praise/frustration alone cannot establish technical correctness or causality. Human sorting appends a review and does not install or activate a candidate. Current source: LEARNING.md, learning_mine.py, learning_store.py. The opening paragraph in LEARNING.md uses older skill terminology; actual inbox candidates are principles to 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engine, not implemented or run. This is controlled role/prompt evaluation; it is not a claim of RL training or measured improvement. P&amp;L/risk/correlation metrics apply where relevant; a data engineer should also be scored on source correctness and coverage, rather than P&amp;L alone. Repeated runs may be needed to separate stochastic variation from improvement. Preserve the baseline and exact versions. Sources: FIRM.md and user design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captured from the actual local /firm UI after the role/skill update. Links require the local memoryNet server. Trace library: http://127.0.0.1:8819/threads ; inspector: http://127.0.0.1:8819/resume ; firm: http://127.0.0.1:8819/firm ; learning: http://127.0.0.1:8819/learning . Browser inspection verified draft fields, role assignments, category search and starter file reading. No live external service state is implied.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8 current runtime starter personas, 16 proposed firm roles, 35 skill catalogue entries (23 outlines, 6 registered starter files, 6 named placeholders). Semantic/hybrid search and local-model answer integration exist, but availability and semantic coverage depend on the model server and encoded passages. Reindexing does not discover newly created sessions or advance snapshot cutoffs. The new drafts are not active persona changes. Sources: README.md; MEMORYNET.md; PERSONAS.md; ROLE_SKILLS.md.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next milestone, not an action performed by the presentation: use the oil data-engineering thread or risk reconciliation thread for a bounded task. Select an available persona; additional firm roles remain drafts. Automated execution identity registration, source capture and message delivery remain runtime work. Once end-to-end evidence is reliable, add controlled evaluation. Full design references: README.md, MEMORYNET.md, PERSONAS.md, FIRM.md, ROLE_SKILLS.md, LEARNING.md. Local workspace: C:/Users/campbell/Dropbox/Snow/Inv/Data/client/swarm.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SWARM  /  MEMORYNET + AGENT SYSTEMS</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A firm that remembers, works, and learns</a:t>
            </a:r>
          </a:p>
        </p:txBody>
      </p:sp>
      <p:cxnSp>
        <p:nvCxnSpPr>
          <p:cNvPr id="4" name="Connector 3"/>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6" name="TextBox 5"/>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01</a:t>
            </a:r>
          </a:p>
        </p:txBody>
      </p:sp>
      <p:sp>
        <p:nvSpPr>
          <p:cNvPr id="7" name="TextBox 6"/>
          <p:cNvSpPr txBox="1"/>
          <p:nvPr/>
        </p:nvSpPr>
        <p:spPr>
          <a:xfrm>
            <a:off x="530352" y="1463040"/>
            <a:ext cx="8961120" cy="777240"/>
          </a:xfrm>
          <a:prstGeom prst="rect">
            <a:avLst/>
          </a:prstGeom>
          <a:noFill/>
        </p:spPr>
        <p:txBody>
          <a:bodyPr wrap="square" lIns="0" rIns="0" tIns="0" bIns="0">
            <a:spAutoFit/>
          </a:bodyPr>
          <a:lstStyle/>
          <a:p>
            <a:pPr>
              <a:spcAft>
                <a:spcPts val="0"/>
              </a:spcAft>
              <a:defRPr sz="2700" b="0">
                <a:solidFill>
                  <a:srgbClr val="61736B"/>
                </a:solidFill>
                <a:latin typeface="Arial"/>
              </a:defRPr>
            </a:pPr>
            <a:r>
              <a:t>The systems we designed today</a:t>
            </a:r>
          </a:p>
        </p:txBody>
      </p:sp>
      <p:sp>
        <p:nvSpPr>
          <p:cNvPr id="8" name="Rounded Rectangle 7"/>
          <p:cNvSpPr/>
          <p:nvPr/>
        </p:nvSpPr>
        <p:spPr>
          <a:xfrm>
            <a:off x="521207" y="2606040"/>
            <a:ext cx="2606040" cy="1691640"/>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834640"/>
            <a:ext cx="2240280" cy="502920"/>
          </a:xfrm>
          <a:prstGeom prst="rect">
            <a:avLst/>
          </a:prstGeom>
          <a:noFill/>
        </p:spPr>
        <p:txBody>
          <a:bodyPr wrap="square" lIns="0" rIns="0" tIns="0" bIns="0">
            <a:spAutoFit/>
          </a:bodyPr>
          <a:lstStyle/>
          <a:p>
            <a:pPr>
              <a:spcAft>
                <a:spcPts val="0"/>
              </a:spcAft>
              <a:defRPr sz="2000" b="1">
                <a:solidFill>
                  <a:srgbClr val="FFFFFF"/>
                </a:solidFill>
                <a:latin typeface="Arial"/>
              </a:defRPr>
            </a:pPr>
            <a:r>
              <a:t>memoryNet</a:t>
            </a:r>
          </a:p>
        </p:txBody>
      </p:sp>
      <p:sp>
        <p:nvSpPr>
          <p:cNvPr id="10" name="TextBox 9"/>
          <p:cNvSpPr txBox="1"/>
          <p:nvPr/>
        </p:nvSpPr>
        <p:spPr>
          <a:xfrm>
            <a:off x="704088" y="3529584"/>
            <a:ext cx="2240280" cy="603504"/>
          </a:xfrm>
          <a:prstGeom prst="rect">
            <a:avLst/>
          </a:prstGeom>
          <a:noFill/>
        </p:spPr>
        <p:txBody>
          <a:bodyPr wrap="square" lIns="0" rIns="0" tIns="0" bIns="0">
            <a:spAutoFit/>
          </a:bodyPr>
          <a:lstStyle/>
          <a:p>
            <a:pPr>
              <a:spcAft>
                <a:spcPts val="0"/>
              </a:spcAft>
              <a:defRPr sz="1700" b="0">
                <a:solidFill>
                  <a:srgbClr val="E2EADF"/>
                </a:solidFill>
                <a:latin typeface="Arial"/>
              </a:defRPr>
            </a:pPr>
            <a:r>
              <a:t>Find the work and its evidence</a:t>
            </a:r>
          </a:p>
        </p:txBody>
      </p:sp>
      <p:sp>
        <p:nvSpPr>
          <p:cNvPr id="11" name="Rounded Rectangle 10"/>
          <p:cNvSpPr/>
          <p:nvPr/>
        </p:nvSpPr>
        <p:spPr>
          <a:xfrm>
            <a:off x="3383279" y="2606040"/>
            <a:ext cx="2606040" cy="169164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2834640"/>
            <a:ext cx="2240280" cy="502920"/>
          </a:xfrm>
          <a:prstGeom prst="rect">
            <a:avLst/>
          </a:prstGeom>
          <a:noFill/>
        </p:spPr>
        <p:txBody>
          <a:bodyPr wrap="square" lIns="0" rIns="0" tIns="0" bIns="0">
            <a:spAutoFit/>
          </a:bodyPr>
          <a:lstStyle/>
          <a:p>
            <a:pPr>
              <a:spcAft>
                <a:spcPts val="0"/>
              </a:spcAft>
              <a:defRPr sz="2000" b="1">
                <a:solidFill>
                  <a:srgbClr val="1D302B"/>
                </a:solidFill>
                <a:latin typeface="Arial"/>
              </a:defRPr>
            </a:pPr>
            <a:r>
              <a:t>Persona manager</a:t>
            </a:r>
          </a:p>
        </p:txBody>
      </p:sp>
      <p:sp>
        <p:nvSpPr>
          <p:cNvPr id="13" name="TextBox 12"/>
          <p:cNvSpPr txBox="1"/>
          <p:nvPr/>
        </p:nvSpPr>
        <p:spPr>
          <a:xfrm>
            <a:off x="3566160" y="3529584"/>
            <a:ext cx="2240280" cy="603504"/>
          </a:xfrm>
          <a:prstGeom prst="rect">
            <a:avLst/>
          </a:prstGeom>
          <a:noFill/>
        </p:spPr>
        <p:txBody>
          <a:bodyPr wrap="square" lIns="0" rIns="0" tIns="0" bIns="0">
            <a:spAutoFit/>
          </a:bodyPr>
          <a:lstStyle/>
          <a:p>
            <a:pPr>
              <a:spcAft>
                <a:spcPts val="0"/>
              </a:spcAft>
              <a:defRPr sz="1700" b="0">
                <a:solidFill>
                  <a:srgbClr val="61736B"/>
                </a:solidFill>
                <a:latin typeface="Arial"/>
              </a:defRPr>
            </a:pPr>
            <a:r>
              <a:t>Define the job and its skills</a:t>
            </a:r>
          </a:p>
        </p:txBody>
      </p:sp>
      <p:sp>
        <p:nvSpPr>
          <p:cNvPr id="14" name="Rounded Rectangle 13"/>
          <p:cNvSpPr/>
          <p:nvPr/>
        </p:nvSpPr>
        <p:spPr>
          <a:xfrm>
            <a:off x="6245352" y="2606040"/>
            <a:ext cx="2606040" cy="169164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2834640"/>
            <a:ext cx="2240280" cy="502920"/>
          </a:xfrm>
          <a:prstGeom prst="rect">
            <a:avLst/>
          </a:prstGeom>
          <a:noFill/>
        </p:spPr>
        <p:txBody>
          <a:bodyPr wrap="square" lIns="0" rIns="0" tIns="0" bIns="0">
            <a:spAutoFit/>
          </a:bodyPr>
          <a:lstStyle/>
          <a:p>
            <a:pPr>
              <a:spcAft>
                <a:spcPts val="0"/>
              </a:spcAft>
              <a:defRPr sz="2000" b="1">
                <a:solidFill>
                  <a:srgbClr val="1D302B"/>
                </a:solidFill>
                <a:latin typeface="Arial"/>
              </a:defRPr>
            </a:pPr>
            <a:r>
              <a:t>Runtime</a:t>
            </a:r>
          </a:p>
        </p:txBody>
      </p:sp>
      <p:sp>
        <p:nvSpPr>
          <p:cNvPr id="16" name="TextBox 15"/>
          <p:cNvSpPr txBox="1"/>
          <p:nvPr/>
        </p:nvSpPr>
        <p:spPr>
          <a:xfrm>
            <a:off x="6428232" y="3529584"/>
            <a:ext cx="2240280" cy="603504"/>
          </a:xfrm>
          <a:prstGeom prst="rect">
            <a:avLst/>
          </a:prstGeom>
          <a:noFill/>
        </p:spPr>
        <p:txBody>
          <a:bodyPr wrap="square" lIns="0" rIns="0" tIns="0" bIns="0">
            <a:spAutoFit/>
          </a:bodyPr>
          <a:lstStyle/>
          <a:p>
            <a:pPr>
              <a:spcAft>
                <a:spcPts val="0"/>
              </a:spcAft>
              <a:defRPr sz="1700" b="0">
                <a:solidFill>
                  <a:srgbClr val="61736B"/>
                </a:solidFill>
                <a:latin typeface="Arial"/>
              </a:defRPr>
            </a:pPr>
            <a:r>
              <a:t>Run and coordinate the agents</a:t>
            </a:r>
          </a:p>
        </p:txBody>
      </p:sp>
      <p:sp>
        <p:nvSpPr>
          <p:cNvPr id="17" name="Rounded Rectangle 16"/>
          <p:cNvSpPr/>
          <p:nvPr/>
        </p:nvSpPr>
        <p:spPr>
          <a:xfrm>
            <a:off x="9107424" y="2606040"/>
            <a:ext cx="2606040" cy="169164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0304" y="2834640"/>
            <a:ext cx="2240280" cy="502920"/>
          </a:xfrm>
          <a:prstGeom prst="rect">
            <a:avLst/>
          </a:prstGeom>
          <a:noFill/>
        </p:spPr>
        <p:txBody>
          <a:bodyPr wrap="square" lIns="0" rIns="0" tIns="0" bIns="0">
            <a:spAutoFit/>
          </a:bodyPr>
          <a:lstStyle/>
          <a:p>
            <a:pPr>
              <a:spcAft>
                <a:spcPts val="0"/>
              </a:spcAft>
              <a:defRPr sz="2000" b="1">
                <a:solidFill>
                  <a:srgbClr val="1D302B"/>
                </a:solidFill>
                <a:latin typeface="Arial"/>
              </a:defRPr>
            </a:pPr>
            <a:r>
              <a:t>Evolution engine</a:t>
            </a:r>
          </a:p>
        </p:txBody>
      </p:sp>
      <p:sp>
        <p:nvSpPr>
          <p:cNvPr id="19" name="TextBox 18"/>
          <p:cNvSpPr txBox="1"/>
          <p:nvPr/>
        </p:nvSpPr>
        <p:spPr>
          <a:xfrm>
            <a:off x="9290304" y="3529584"/>
            <a:ext cx="2240280" cy="603504"/>
          </a:xfrm>
          <a:prstGeom prst="rect">
            <a:avLst/>
          </a:prstGeom>
          <a:noFill/>
        </p:spPr>
        <p:txBody>
          <a:bodyPr wrap="square" lIns="0" rIns="0" tIns="0" bIns="0">
            <a:spAutoFit/>
          </a:bodyPr>
          <a:lstStyle/>
          <a:p>
            <a:pPr>
              <a:spcAft>
                <a:spcPts val="0"/>
              </a:spcAft>
              <a:defRPr sz="1700" b="0">
                <a:solidFill>
                  <a:srgbClr val="61736B"/>
                </a:solidFill>
                <a:latin typeface="Arial"/>
              </a:defRPr>
            </a:pPr>
            <a:r>
              <a:t>Test better ways of working</a:t>
            </a:r>
          </a:p>
        </p:txBody>
      </p:sp>
      <p:sp>
        <p:nvSpPr>
          <p:cNvPr id="20" name="TextBox 19"/>
          <p:cNvSpPr txBox="1"/>
          <p:nvPr/>
        </p:nvSpPr>
        <p:spPr>
          <a:xfrm>
            <a:off x="548640" y="4974336"/>
            <a:ext cx="10789920" cy="365760"/>
          </a:xfrm>
          <a:prstGeom prst="rect">
            <a:avLst/>
          </a:prstGeom>
          <a:noFill/>
        </p:spPr>
        <p:txBody>
          <a:bodyPr wrap="square" lIns="0" rIns="0" tIns="0" bIns="0">
            <a:spAutoFit/>
          </a:bodyPr>
          <a:lstStyle/>
          <a:p>
            <a:pPr>
              <a:spcAft>
                <a:spcPts val="0"/>
              </a:spcAft>
              <a:defRPr sz="1500" b="1">
                <a:solidFill>
                  <a:srgbClr val="42694F"/>
                </a:solidFill>
                <a:latin typeface="Arial"/>
              </a:defRPr>
            </a:pPr>
            <a:r>
              <a:t>Three goals</a:t>
            </a:r>
          </a:p>
        </p:txBody>
      </p:sp>
      <p:sp>
        <p:nvSpPr>
          <p:cNvPr id="21" name="TextBox 20"/>
          <p:cNvSpPr txBox="1"/>
          <p:nvPr/>
        </p:nvSpPr>
        <p:spPr>
          <a:xfrm>
            <a:off x="548640" y="5468112"/>
            <a:ext cx="3383280" cy="548640"/>
          </a:xfrm>
          <a:prstGeom prst="rect">
            <a:avLst/>
          </a:prstGeom>
          <a:noFill/>
        </p:spPr>
        <p:txBody>
          <a:bodyPr wrap="square" lIns="0" rIns="0" tIns="0" bIns="0">
            <a:spAutoFit/>
          </a:bodyPr>
          <a:lstStyle/>
          <a:p>
            <a:pPr>
              <a:spcAft>
                <a:spcPts val="0"/>
              </a:spcAft>
              <a:defRPr sz="2200" b="1">
                <a:solidFill>
                  <a:srgbClr val="1D302B"/>
                </a:solidFill>
                <a:latin typeface="Arial"/>
              </a:defRPr>
            </a:pPr>
            <a:r>
              <a:t>Survive interruptions</a:t>
            </a:r>
          </a:p>
        </p:txBody>
      </p:sp>
      <p:sp>
        <p:nvSpPr>
          <p:cNvPr id="22" name="TextBox 21"/>
          <p:cNvSpPr txBox="1"/>
          <p:nvPr/>
        </p:nvSpPr>
        <p:spPr>
          <a:xfrm>
            <a:off x="4361688" y="5468112"/>
            <a:ext cx="3383280" cy="548640"/>
          </a:xfrm>
          <a:prstGeom prst="rect">
            <a:avLst/>
          </a:prstGeom>
          <a:noFill/>
        </p:spPr>
        <p:txBody>
          <a:bodyPr wrap="square" lIns="0" rIns="0" tIns="0" bIns="0">
            <a:spAutoFit/>
          </a:bodyPr>
          <a:lstStyle/>
          <a:p>
            <a:pPr>
              <a:spcAft>
                <a:spcPts val="0"/>
              </a:spcAft>
              <a:defRPr sz="2200" b="1">
                <a:solidFill>
                  <a:srgbClr val="1D302B"/>
                </a:solidFill>
                <a:latin typeface="Arial"/>
              </a:defRPr>
            </a:pPr>
            <a:r>
              <a:t>Keep learning evidence</a:t>
            </a:r>
          </a:p>
        </p:txBody>
      </p:sp>
      <p:sp>
        <p:nvSpPr>
          <p:cNvPr id="23" name="TextBox 22"/>
          <p:cNvSpPr txBox="1"/>
          <p:nvPr/>
        </p:nvSpPr>
        <p:spPr>
          <a:xfrm>
            <a:off x="8165592" y="5468112"/>
            <a:ext cx="3474720" cy="548640"/>
          </a:xfrm>
          <a:prstGeom prst="rect">
            <a:avLst/>
          </a:prstGeom>
          <a:noFill/>
        </p:spPr>
        <p:txBody>
          <a:bodyPr wrap="square" lIns="0" rIns="0" tIns="0" bIns="0">
            <a:spAutoFit/>
          </a:bodyPr>
          <a:lstStyle/>
          <a:p>
            <a:pPr>
              <a:spcAft>
                <a:spcPts val="0"/>
              </a:spcAft>
              <a:defRPr sz="2200" b="1">
                <a:solidFill>
                  <a:srgbClr val="1D302B"/>
                </a:solidFill>
                <a:latin typeface="Arial"/>
              </a:defRPr>
            </a:pPr>
            <a:r>
              <a:t>Improve without chaos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Four systems, four different responsibilities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Memory and role definitions feed each run; every run should leave evidence for later review.</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02</a:t>
            </a:r>
          </a:p>
        </p:txBody>
      </p:sp>
      <p:sp>
        <p:nvSpPr>
          <p:cNvPr id="8" name="Rounded Rectangle 7"/>
          <p:cNvSpPr/>
          <p:nvPr/>
        </p:nvSpPr>
        <p:spPr>
          <a:xfrm>
            <a:off x="521207" y="1828800"/>
            <a:ext cx="11155680" cy="80467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48256"/>
            <a:ext cx="502920" cy="330200"/>
          </a:xfrm>
          <a:prstGeom prst="rect">
            <a:avLst/>
          </a:prstGeom>
          <a:noFill/>
        </p:spPr>
        <p:txBody>
          <a:bodyPr wrap="square" lIns="0" rIns="0" tIns="0" bIns="0">
            <a:spAutoFit/>
          </a:bodyPr>
          <a:lstStyle/>
          <a:p>
            <a:pPr>
              <a:spcAft>
                <a:spcPts val="0"/>
              </a:spcAft>
              <a:defRPr sz="2000" b="1">
                <a:solidFill>
                  <a:srgbClr val="42694F"/>
                </a:solidFill>
                <a:latin typeface="Arial"/>
              </a:defRPr>
            </a:pPr>
            <a:r>
              <a:t>01</a:t>
            </a:r>
          </a:p>
        </p:txBody>
      </p:sp>
      <p:sp>
        <p:nvSpPr>
          <p:cNvPr id="10" name="TextBox 9"/>
          <p:cNvSpPr txBox="1"/>
          <p:nvPr/>
        </p:nvSpPr>
        <p:spPr>
          <a:xfrm>
            <a:off x="1389888" y="2039112"/>
            <a:ext cx="2697480" cy="365760"/>
          </a:xfrm>
          <a:prstGeom prst="rect">
            <a:avLst/>
          </a:prstGeom>
          <a:noFill/>
        </p:spPr>
        <p:txBody>
          <a:bodyPr wrap="square" lIns="0" rIns="0" tIns="0" bIns="0">
            <a:spAutoFit/>
          </a:bodyPr>
          <a:lstStyle/>
          <a:p>
            <a:pPr>
              <a:spcAft>
                <a:spcPts val="0"/>
              </a:spcAft>
              <a:defRPr sz="2000" b="1">
                <a:solidFill>
                  <a:srgbClr val="1D302B"/>
                </a:solidFill>
                <a:latin typeface="Arial"/>
              </a:defRPr>
            </a:pPr>
            <a:r>
              <a:t>memoryNet</a:t>
            </a:r>
          </a:p>
        </p:txBody>
      </p:sp>
      <p:sp>
        <p:nvSpPr>
          <p:cNvPr id="11" name="TextBox 10"/>
          <p:cNvSpPr txBox="1"/>
          <p:nvPr/>
        </p:nvSpPr>
        <p:spPr>
          <a:xfrm>
            <a:off x="4206240" y="2057400"/>
            <a:ext cx="5349240" cy="420624"/>
          </a:xfrm>
          <a:prstGeom prst="rect">
            <a:avLst/>
          </a:prstGeom>
          <a:noFill/>
        </p:spPr>
        <p:txBody>
          <a:bodyPr wrap="square" lIns="0" rIns="0" tIns="0" bIns="0">
            <a:spAutoFit/>
          </a:bodyPr>
          <a:lstStyle/>
          <a:p>
            <a:pPr>
              <a:spcAft>
                <a:spcPts val="0"/>
              </a:spcAft>
              <a:defRPr sz="1500" b="0">
                <a:solidFill>
                  <a:srgbClr val="61736B"/>
                </a:solidFill>
                <a:latin typeface="Arial"/>
              </a:defRPr>
            </a:pPr>
            <a:r>
              <a:t>Threads, identities, original evidence, outputs, judgments</a:t>
            </a:r>
          </a:p>
        </p:txBody>
      </p:sp>
      <p:sp>
        <p:nvSpPr>
          <p:cNvPr id="12" name="Rounded Rectangle 11"/>
          <p:cNvSpPr/>
          <p:nvPr/>
        </p:nvSpPr>
        <p:spPr>
          <a:xfrm>
            <a:off x="9848088" y="2103120"/>
            <a:ext cx="1581912" cy="265176"/>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12096" y="2156155"/>
            <a:ext cx="1453895" cy="182880"/>
          </a:xfrm>
          <a:prstGeom prst="rect">
            <a:avLst/>
          </a:prstGeom>
          <a:noFill/>
        </p:spPr>
        <p:txBody>
          <a:bodyPr wrap="square" lIns="0" rIns="0" tIns="0" bIns="0">
            <a:spAutoFit/>
          </a:bodyPr>
          <a:lstStyle/>
          <a:p>
            <a:pPr>
              <a:spcAft>
                <a:spcPts val="0"/>
              </a:spcAft>
              <a:defRPr sz="1000" b="1">
                <a:solidFill>
                  <a:srgbClr val="42694F"/>
                </a:solidFill>
                <a:latin typeface="Arial"/>
              </a:defRPr>
            </a:pPr>
            <a:r>
              <a:t>LOCAL SCAFFOLD</a:t>
            </a:r>
          </a:p>
        </p:txBody>
      </p:sp>
      <p:sp>
        <p:nvSpPr>
          <p:cNvPr id="14" name="Rounded Rectangle 13"/>
          <p:cNvSpPr/>
          <p:nvPr/>
        </p:nvSpPr>
        <p:spPr>
          <a:xfrm>
            <a:off x="521207" y="2779776"/>
            <a:ext cx="11155680" cy="80467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99232"/>
            <a:ext cx="502920" cy="330200"/>
          </a:xfrm>
          <a:prstGeom prst="rect">
            <a:avLst/>
          </a:prstGeom>
          <a:noFill/>
        </p:spPr>
        <p:txBody>
          <a:bodyPr wrap="square" lIns="0" rIns="0" tIns="0" bIns="0">
            <a:spAutoFit/>
          </a:bodyPr>
          <a:lstStyle/>
          <a:p>
            <a:pPr>
              <a:spcAft>
                <a:spcPts val="0"/>
              </a:spcAft>
              <a:defRPr sz="2000" b="1">
                <a:solidFill>
                  <a:srgbClr val="42694F"/>
                </a:solidFill>
                <a:latin typeface="Arial"/>
              </a:defRPr>
            </a:pPr>
            <a:r>
              <a:t>02</a:t>
            </a:r>
          </a:p>
        </p:txBody>
      </p:sp>
      <p:sp>
        <p:nvSpPr>
          <p:cNvPr id="16" name="TextBox 15"/>
          <p:cNvSpPr txBox="1"/>
          <p:nvPr/>
        </p:nvSpPr>
        <p:spPr>
          <a:xfrm>
            <a:off x="1389888" y="2990088"/>
            <a:ext cx="2697480" cy="365760"/>
          </a:xfrm>
          <a:prstGeom prst="rect">
            <a:avLst/>
          </a:prstGeom>
          <a:noFill/>
        </p:spPr>
        <p:txBody>
          <a:bodyPr wrap="square" lIns="0" rIns="0" tIns="0" bIns="0">
            <a:spAutoFit/>
          </a:bodyPr>
          <a:lstStyle/>
          <a:p>
            <a:pPr>
              <a:spcAft>
                <a:spcPts val="0"/>
              </a:spcAft>
              <a:defRPr sz="2000" b="1">
                <a:solidFill>
                  <a:srgbClr val="1D302B"/>
                </a:solidFill>
                <a:latin typeface="Arial"/>
              </a:defRPr>
            </a:pPr>
            <a:r>
              <a:t>Persona manager</a:t>
            </a:r>
          </a:p>
        </p:txBody>
      </p:sp>
      <p:sp>
        <p:nvSpPr>
          <p:cNvPr id="17" name="TextBox 16"/>
          <p:cNvSpPr txBox="1"/>
          <p:nvPr/>
        </p:nvSpPr>
        <p:spPr>
          <a:xfrm>
            <a:off x="4206240" y="3008376"/>
            <a:ext cx="5349240" cy="420624"/>
          </a:xfrm>
          <a:prstGeom prst="rect">
            <a:avLst/>
          </a:prstGeom>
          <a:noFill/>
        </p:spPr>
        <p:txBody>
          <a:bodyPr wrap="square" lIns="0" rIns="0" tIns="0" bIns="0">
            <a:spAutoFit/>
          </a:bodyPr>
          <a:lstStyle/>
          <a:p>
            <a:pPr>
              <a:spcAft>
                <a:spcPts val="0"/>
              </a:spcAft>
              <a:defRPr sz="1500" b="0">
                <a:solidFill>
                  <a:srgbClr val="61736B"/>
                </a:solidFill>
                <a:latin typeface="Arial"/>
              </a:defRPr>
            </a:pPr>
            <a:r>
              <a:t>Roles, OODA loops, skills, standards, escalation paths</a:t>
            </a:r>
          </a:p>
        </p:txBody>
      </p:sp>
      <p:sp>
        <p:nvSpPr>
          <p:cNvPr id="18" name="Rounded Rectangle 17"/>
          <p:cNvSpPr/>
          <p:nvPr/>
        </p:nvSpPr>
        <p:spPr>
          <a:xfrm>
            <a:off x="9848088" y="3054096"/>
            <a:ext cx="1581912" cy="265176"/>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12096" y="3107131"/>
            <a:ext cx="1453895" cy="182880"/>
          </a:xfrm>
          <a:prstGeom prst="rect">
            <a:avLst/>
          </a:prstGeom>
          <a:noFill/>
        </p:spPr>
        <p:txBody>
          <a:bodyPr wrap="square" lIns="0" rIns="0" tIns="0" bIns="0">
            <a:spAutoFit/>
          </a:bodyPr>
          <a:lstStyle/>
          <a:p>
            <a:pPr>
              <a:spcAft>
                <a:spcPts val="0"/>
              </a:spcAft>
              <a:defRPr sz="1000" b="1">
                <a:solidFill>
                  <a:srgbClr val="42694F"/>
                </a:solidFill>
                <a:latin typeface="Arial"/>
              </a:defRPr>
            </a:pPr>
            <a:r>
              <a:t>STARTERS + DRAFTS</a:t>
            </a:r>
          </a:p>
        </p:txBody>
      </p:sp>
      <p:sp>
        <p:nvSpPr>
          <p:cNvPr id="20" name="Rounded Rectangle 19"/>
          <p:cNvSpPr/>
          <p:nvPr/>
        </p:nvSpPr>
        <p:spPr>
          <a:xfrm>
            <a:off x="521207" y="3730752"/>
            <a:ext cx="11155680" cy="80467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50208"/>
            <a:ext cx="502920" cy="330200"/>
          </a:xfrm>
          <a:prstGeom prst="rect">
            <a:avLst/>
          </a:prstGeom>
          <a:noFill/>
        </p:spPr>
        <p:txBody>
          <a:bodyPr wrap="square" lIns="0" rIns="0" tIns="0" bIns="0">
            <a:spAutoFit/>
          </a:bodyPr>
          <a:lstStyle/>
          <a:p>
            <a:pPr>
              <a:spcAft>
                <a:spcPts val="0"/>
              </a:spcAft>
              <a:defRPr sz="2000" b="1">
                <a:solidFill>
                  <a:srgbClr val="42694F"/>
                </a:solidFill>
                <a:latin typeface="Arial"/>
              </a:defRPr>
            </a:pPr>
            <a:r>
              <a:t>03</a:t>
            </a:r>
          </a:p>
        </p:txBody>
      </p:sp>
      <p:sp>
        <p:nvSpPr>
          <p:cNvPr id="22" name="TextBox 21"/>
          <p:cNvSpPr txBox="1"/>
          <p:nvPr/>
        </p:nvSpPr>
        <p:spPr>
          <a:xfrm>
            <a:off x="1389888" y="3941064"/>
            <a:ext cx="2697480" cy="365760"/>
          </a:xfrm>
          <a:prstGeom prst="rect">
            <a:avLst/>
          </a:prstGeom>
          <a:noFill/>
        </p:spPr>
        <p:txBody>
          <a:bodyPr wrap="square" lIns="0" rIns="0" tIns="0" bIns="0">
            <a:spAutoFit/>
          </a:bodyPr>
          <a:lstStyle/>
          <a:p>
            <a:pPr>
              <a:spcAft>
                <a:spcPts val="0"/>
              </a:spcAft>
              <a:defRPr sz="2000" b="1">
                <a:solidFill>
                  <a:srgbClr val="1D302B"/>
                </a:solidFill>
                <a:latin typeface="Arial"/>
              </a:defRPr>
            </a:pPr>
            <a:r>
              <a:t>Runtime</a:t>
            </a:r>
          </a:p>
        </p:txBody>
      </p:sp>
      <p:sp>
        <p:nvSpPr>
          <p:cNvPr id="23" name="TextBox 22"/>
          <p:cNvSpPr txBox="1"/>
          <p:nvPr/>
        </p:nvSpPr>
        <p:spPr>
          <a:xfrm>
            <a:off x="4206240" y="3959352"/>
            <a:ext cx="5349240" cy="420624"/>
          </a:xfrm>
          <a:prstGeom prst="rect">
            <a:avLst/>
          </a:prstGeom>
          <a:noFill/>
        </p:spPr>
        <p:txBody>
          <a:bodyPr wrap="square" lIns="0" rIns="0" tIns="0" bIns="0">
            <a:spAutoFit/>
          </a:bodyPr>
          <a:lstStyle/>
          <a:p>
            <a:pPr>
              <a:spcAft>
                <a:spcPts val="0"/>
              </a:spcAft>
              <a:defRPr sz="1500" b="0">
                <a:solidFill>
                  <a:srgbClr val="61736B"/>
                </a:solidFill>
                <a:latin typeface="Arial"/>
              </a:defRPr>
            </a:pPr>
            <a:r>
              <a:t>Start agents, assign tasks, deliver messages, collect results</a:t>
            </a:r>
          </a:p>
        </p:txBody>
      </p:sp>
      <p:sp>
        <p:nvSpPr>
          <p:cNvPr id="24" name="Rounded Rectangle 23"/>
          <p:cNvSpPr/>
          <p:nvPr/>
        </p:nvSpPr>
        <p:spPr>
          <a:xfrm>
            <a:off x="9848088" y="4005072"/>
            <a:ext cx="1581912" cy="265176"/>
          </a:xfrm>
          <a:prstGeom prst="roundRect">
            <a:avLst>
              <a:gd name="adj" fmla="val 9000"/>
            </a:avLst>
          </a:prstGeom>
          <a:solidFill>
            <a:srgbClr val="F3E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12096" y="4058107"/>
            <a:ext cx="1453895" cy="182880"/>
          </a:xfrm>
          <a:prstGeom prst="rect">
            <a:avLst/>
          </a:prstGeom>
          <a:noFill/>
        </p:spPr>
        <p:txBody>
          <a:bodyPr wrap="square" lIns="0" rIns="0" tIns="0" bIns="0">
            <a:spAutoFit/>
          </a:bodyPr>
          <a:lstStyle/>
          <a:p>
            <a:pPr>
              <a:spcAft>
                <a:spcPts val="0"/>
              </a:spcAft>
              <a:defRPr sz="1000" b="1">
                <a:solidFill>
                  <a:srgbClr val="9A6431"/>
                </a:solidFill>
                <a:latin typeface="Arial"/>
              </a:defRPr>
            </a:pPr>
            <a:r>
              <a:t>PLANNED</a:t>
            </a:r>
          </a:p>
        </p:txBody>
      </p:sp>
      <p:sp>
        <p:nvSpPr>
          <p:cNvPr id="26" name="Rounded Rectangle 25"/>
          <p:cNvSpPr/>
          <p:nvPr/>
        </p:nvSpPr>
        <p:spPr>
          <a:xfrm>
            <a:off x="521207" y="4681728"/>
            <a:ext cx="11155680" cy="80467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901184"/>
            <a:ext cx="502920" cy="330200"/>
          </a:xfrm>
          <a:prstGeom prst="rect">
            <a:avLst/>
          </a:prstGeom>
          <a:noFill/>
        </p:spPr>
        <p:txBody>
          <a:bodyPr wrap="square" lIns="0" rIns="0" tIns="0" bIns="0">
            <a:spAutoFit/>
          </a:bodyPr>
          <a:lstStyle/>
          <a:p>
            <a:pPr>
              <a:spcAft>
                <a:spcPts val="0"/>
              </a:spcAft>
              <a:defRPr sz="2000" b="1">
                <a:solidFill>
                  <a:srgbClr val="42694F"/>
                </a:solidFill>
                <a:latin typeface="Arial"/>
              </a:defRPr>
            </a:pPr>
            <a:r>
              <a:t>04</a:t>
            </a:r>
          </a:p>
        </p:txBody>
      </p:sp>
      <p:sp>
        <p:nvSpPr>
          <p:cNvPr id="28" name="TextBox 27"/>
          <p:cNvSpPr txBox="1"/>
          <p:nvPr/>
        </p:nvSpPr>
        <p:spPr>
          <a:xfrm>
            <a:off x="1389888" y="4892040"/>
            <a:ext cx="2697480" cy="365760"/>
          </a:xfrm>
          <a:prstGeom prst="rect">
            <a:avLst/>
          </a:prstGeom>
          <a:noFill/>
        </p:spPr>
        <p:txBody>
          <a:bodyPr wrap="square" lIns="0" rIns="0" tIns="0" bIns="0">
            <a:spAutoFit/>
          </a:bodyPr>
          <a:lstStyle/>
          <a:p>
            <a:pPr>
              <a:spcAft>
                <a:spcPts val="0"/>
              </a:spcAft>
              <a:defRPr sz="2000" b="1">
                <a:solidFill>
                  <a:srgbClr val="1D302B"/>
                </a:solidFill>
                <a:latin typeface="Arial"/>
              </a:defRPr>
            </a:pPr>
            <a:r>
              <a:t>Evolution engine</a:t>
            </a:r>
          </a:p>
        </p:txBody>
      </p:sp>
      <p:sp>
        <p:nvSpPr>
          <p:cNvPr id="29" name="TextBox 28"/>
          <p:cNvSpPr txBox="1"/>
          <p:nvPr/>
        </p:nvSpPr>
        <p:spPr>
          <a:xfrm>
            <a:off x="4206240" y="4910328"/>
            <a:ext cx="5349240" cy="420624"/>
          </a:xfrm>
          <a:prstGeom prst="rect">
            <a:avLst/>
          </a:prstGeom>
          <a:noFill/>
        </p:spPr>
        <p:txBody>
          <a:bodyPr wrap="square" lIns="0" rIns="0" tIns="0" bIns="0">
            <a:spAutoFit/>
          </a:bodyPr>
          <a:lstStyle/>
          <a:p>
            <a:pPr>
              <a:spcAft>
                <a:spcPts val="0"/>
              </a:spcAft>
              <a:defRPr sz="1500" b="0">
                <a:solidFill>
                  <a:srgbClr val="61736B"/>
                </a:solidFill>
                <a:latin typeface="Arial"/>
              </a:defRPr>
            </a:pPr>
            <a:r>
              <a:t>Compare role versions under controlled historical tests</a:t>
            </a:r>
          </a:p>
        </p:txBody>
      </p:sp>
      <p:sp>
        <p:nvSpPr>
          <p:cNvPr id="30" name="Rounded Rectangle 29"/>
          <p:cNvSpPr/>
          <p:nvPr/>
        </p:nvSpPr>
        <p:spPr>
          <a:xfrm>
            <a:off x="9848088" y="4956048"/>
            <a:ext cx="1581912" cy="265176"/>
          </a:xfrm>
          <a:prstGeom prst="roundRect">
            <a:avLst>
              <a:gd name="adj" fmla="val 9000"/>
            </a:avLst>
          </a:prstGeom>
          <a:solidFill>
            <a:srgbClr val="F3E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12096" y="5009083"/>
            <a:ext cx="1453895" cy="182880"/>
          </a:xfrm>
          <a:prstGeom prst="rect">
            <a:avLst/>
          </a:prstGeom>
          <a:noFill/>
        </p:spPr>
        <p:txBody>
          <a:bodyPr wrap="square" lIns="0" rIns="0" tIns="0" bIns="0">
            <a:spAutoFit/>
          </a:bodyPr>
          <a:lstStyle/>
          <a:p>
            <a:pPr>
              <a:spcAft>
                <a:spcPts val="0"/>
              </a:spcAft>
              <a:defRPr sz="1000" b="1">
                <a:solidFill>
                  <a:srgbClr val="9A6431"/>
                </a:solidFill>
                <a:latin typeface="Arial"/>
              </a:defRPr>
            </a:pPr>
            <a:r>
              <a:t>PLANNED</a:t>
            </a:r>
          </a:p>
        </p:txBody>
      </p:sp>
      <p:sp>
        <p:nvSpPr>
          <p:cNvPr id="32" name="Rounded Rectangle 31"/>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925312"/>
            <a:ext cx="10808208"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The runtime uses memory and personas. The evolution engine tests changes before they are adopted.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memoryNet keeps four kinds of evidence</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A handoff helps the next agent move quickly. The original trace lets it check what actually happened.</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03</a:t>
            </a:r>
          </a:p>
        </p:txBody>
      </p:sp>
      <p:sp>
        <p:nvSpPr>
          <p:cNvPr id="8" name="Rounded Rectangle 7"/>
          <p:cNvSpPr/>
          <p:nvPr/>
        </p:nvSpPr>
        <p:spPr>
          <a:xfrm>
            <a:off x="521207" y="1828800"/>
            <a:ext cx="5440680" cy="157276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5" y="1993392"/>
            <a:ext cx="5029200"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Core trace</a:t>
            </a:r>
          </a:p>
        </p:txBody>
      </p:sp>
      <p:sp>
        <p:nvSpPr>
          <p:cNvPr id="10" name="TextBox 9"/>
          <p:cNvSpPr txBox="1"/>
          <p:nvPr/>
        </p:nvSpPr>
        <p:spPr>
          <a:xfrm>
            <a:off x="722375" y="2450592"/>
            <a:ext cx="5001768" cy="566928"/>
          </a:xfrm>
          <a:prstGeom prst="rect">
            <a:avLst/>
          </a:prstGeom>
          <a:noFill/>
        </p:spPr>
        <p:txBody>
          <a:bodyPr wrap="square" lIns="0" rIns="0" tIns="0" bIns="0">
            <a:spAutoFit/>
          </a:bodyPr>
          <a:lstStyle/>
          <a:p>
            <a:pPr>
              <a:spcAft>
                <a:spcPts val="0"/>
              </a:spcAft>
              <a:defRPr sz="1700" b="0">
                <a:solidFill>
                  <a:srgbClr val="61736B"/>
                </a:solidFill>
                <a:latin typeface="Arial"/>
              </a:defRPr>
            </a:pPr>
            <a:r>
              <a:t>Recorded messages, actions, tool inputs and results, errors, and ordering.</a:t>
            </a:r>
          </a:p>
        </p:txBody>
      </p:sp>
      <p:sp>
        <p:nvSpPr>
          <p:cNvPr id="11" name="TextBox 10"/>
          <p:cNvSpPr txBox="1"/>
          <p:nvPr/>
        </p:nvSpPr>
        <p:spPr>
          <a:xfrm>
            <a:off x="722375" y="3072384"/>
            <a:ext cx="4983480" cy="201168"/>
          </a:xfrm>
          <a:prstGeom prst="rect">
            <a:avLst/>
          </a:prstGeom>
          <a:noFill/>
        </p:spPr>
        <p:txBody>
          <a:bodyPr wrap="square" lIns="0" rIns="0" tIns="0" bIns="0">
            <a:spAutoFit/>
          </a:bodyPr>
          <a:lstStyle/>
          <a:p>
            <a:pPr>
              <a:spcAft>
                <a:spcPts val="0"/>
              </a:spcAft>
              <a:defRPr sz="1200" b="1">
                <a:solidFill>
                  <a:srgbClr val="42694F"/>
                </a:solidFill>
                <a:latin typeface="Arial"/>
              </a:defRPr>
            </a:pPr>
            <a:r>
              <a:t>Investigation and training evidence</a:t>
            </a:r>
          </a:p>
        </p:txBody>
      </p:sp>
      <p:sp>
        <p:nvSpPr>
          <p:cNvPr id="12" name="Rounded Rectangle 11"/>
          <p:cNvSpPr/>
          <p:nvPr/>
        </p:nvSpPr>
        <p:spPr>
          <a:xfrm>
            <a:off x="6236208" y="1828800"/>
            <a:ext cx="5440680" cy="157276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93392"/>
            <a:ext cx="5029200"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Checkpoint</a:t>
            </a:r>
          </a:p>
        </p:txBody>
      </p:sp>
      <p:sp>
        <p:nvSpPr>
          <p:cNvPr id="14" name="TextBox 13"/>
          <p:cNvSpPr txBox="1"/>
          <p:nvPr/>
        </p:nvSpPr>
        <p:spPr>
          <a:xfrm>
            <a:off x="6437376" y="2450592"/>
            <a:ext cx="5001768" cy="566928"/>
          </a:xfrm>
          <a:prstGeom prst="rect">
            <a:avLst/>
          </a:prstGeom>
          <a:noFill/>
        </p:spPr>
        <p:txBody>
          <a:bodyPr wrap="square" lIns="0" rIns="0" tIns="0" bIns="0">
            <a:spAutoFit/>
          </a:bodyPr>
          <a:lstStyle/>
          <a:p>
            <a:pPr>
              <a:spcAft>
                <a:spcPts val="0"/>
              </a:spcAft>
              <a:defRPr sz="1700" b="0">
                <a:solidFill>
                  <a:srgbClr val="61736B"/>
                </a:solidFill>
                <a:latin typeface="Arial"/>
              </a:defRPr>
            </a:pPr>
            <a:r>
              <a:t>Current state, unfinished work, open questions, and the next action.</a:t>
            </a:r>
          </a:p>
        </p:txBody>
      </p:sp>
      <p:sp>
        <p:nvSpPr>
          <p:cNvPr id="15" name="TextBox 14"/>
          <p:cNvSpPr txBox="1"/>
          <p:nvPr/>
        </p:nvSpPr>
        <p:spPr>
          <a:xfrm>
            <a:off x="6437376" y="3072384"/>
            <a:ext cx="4983480" cy="201168"/>
          </a:xfrm>
          <a:prstGeom prst="rect">
            <a:avLst/>
          </a:prstGeom>
          <a:noFill/>
        </p:spPr>
        <p:txBody>
          <a:bodyPr wrap="square" lIns="0" rIns="0" tIns="0" bIns="0">
            <a:spAutoFit/>
          </a:bodyPr>
          <a:lstStyle/>
          <a:p>
            <a:pPr>
              <a:spcAft>
                <a:spcPts val="0"/>
              </a:spcAft>
              <a:defRPr sz="1200" b="1">
                <a:solidFill>
                  <a:srgbClr val="42694F"/>
                </a:solidFill>
                <a:latin typeface="Arial"/>
              </a:defRPr>
            </a:pPr>
            <a:r>
              <a:t>Fast continuation</a:t>
            </a:r>
          </a:p>
        </p:txBody>
      </p:sp>
      <p:sp>
        <p:nvSpPr>
          <p:cNvPr id="16" name="Rounded Rectangle 15"/>
          <p:cNvSpPr/>
          <p:nvPr/>
        </p:nvSpPr>
        <p:spPr>
          <a:xfrm>
            <a:off x="521207" y="3621024"/>
            <a:ext cx="5440680" cy="157276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5" y="3785615"/>
            <a:ext cx="5029200"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Synthesis</a:t>
            </a:r>
          </a:p>
        </p:txBody>
      </p:sp>
      <p:sp>
        <p:nvSpPr>
          <p:cNvPr id="18" name="TextBox 17"/>
          <p:cNvSpPr txBox="1"/>
          <p:nvPr/>
        </p:nvSpPr>
        <p:spPr>
          <a:xfrm>
            <a:off x="722375" y="4242816"/>
            <a:ext cx="5001768" cy="566928"/>
          </a:xfrm>
          <a:prstGeom prst="rect">
            <a:avLst/>
          </a:prstGeom>
          <a:noFill/>
        </p:spPr>
        <p:txBody>
          <a:bodyPr wrap="square" lIns="0" rIns="0" tIns="0" bIns="0">
            <a:spAutoFit/>
          </a:bodyPr>
          <a:lstStyle/>
          <a:p>
            <a:pPr>
              <a:spcAft>
                <a:spcPts val="0"/>
              </a:spcAft>
              <a:defRPr sz="1700" b="0">
                <a:solidFill>
                  <a:srgbClr val="61736B"/>
                </a:solidFill>
                <a:latin typeface="Arial"/>
              </a:defRPr>
            </a:pPr>
            <a:r>
              <a:t>Conclusions, explanations, and lessons drawn from the work.</a:t>
            </a:r>
          </a:p>
        </p:txBody>
      </p:sp>
      <p:sp>
        <p:nvSpPr>
          <p:cNvPr id="19" name="TextBox 18"/>
          <p:cNvSpPr txBox="1"/>
          <p:nvPr/>
        </p:nvSpPr>
        <p:spPr>
          <a:xfrm>
            <a:off x="722375" y="4864608"/>
            <a:ext cx="4983480" cy="201168"/>
          </a:xfrm>
          <a:prstGeom prst="rect">
            <a:avLst/>
          </a:prstGeom>
          <a:noFill/>
        </p:spPr>
        <p:txBody>
          <a:bodyPr wrap="square" lIns="0" rIns="0" tIns="0" bIns="0">
            <a:spAutoFit/>
          </a:bodyPr>
          <a:lstStyle/>
          <a:p>
            <a:pPr>
              <a:spcAft>
                <a:spcPts val="0"/>
              </a:spcAft>
              <a:defRPr sz="1200" b="1">
                <a:solidFill>
                  <a:srgbClr val="42694F"/>
                </a:solidFill>
                <a:latin typeface="Arial"/>
              </a:defRPr>
            </a:pPr>
            <a:r>
              <a:t>Retrieval and understanding</a:t>
            </a:r>
          </a:p>
        </p:txBody>
      </p:sp>
      <p:sp>
        <p:nvSpPr>
          <p:cNvPr id="20" name="Rounded Rectangle 19"/>
          <p:cNvSpPr/>
          <p:nvPr/>
        </p:nvSpPr>
        <p:spPr>
          <a:xfrm>
            <a:off x="6236208" y="3621024"/>
            <a:ext cx="5440680" cy="157276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7376" y="3785615"/>
            <a:ext cx="5029200"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Assessment</a:t>
            </a:r>
          </a:p>
        </p:txBody>
      </p:sp>
      <p:sp>
        <p:nvSpPr>
          <p:cNvPr id="22" name="TextBox 21"/>
          <p:cNvSpPr txBox="1"/>
          <p:nvPr/>
        </p:nvSpPr>
        <p:spPr>
          <a:xfrm>
            <a:off x="6437376" y="4242816"/>
            <a:ext cx="5001768" cy="566928"/>
          </a:xfrm>
          <a:prstGeom prst="rect">
            <a:avLst/>
          </a:prstGeom>
          <a:noFill/>
        </p:spPr>
        <p:txBody>
          <a:bodyPr wrap="square" lIns="0" rIns="0" tIns="0" bIns="0">
            <a:spAutoFit/>
          </a:bodyPr>
          <a:lstStyle/>
          <a:p>
            <a:pPr>
              <a:spcAft>
                <a:spcPts val="0"/>
              </a:spcAft>
              <a:defRPr sz="1700" b="0">
                <a:solidFill>
                  <a:srgbClr val="61736B"/>
                </a:solidFill>
                <a:latin typeface="Arial"/>
              </a:defRPr>
            </a:pPr>
            <a:r>
              <a:t>What succeeded or failed, the supporting evidence, and who judged it.</a:t>
            </a:r>
          </a:p>
        </p:txBody>
      </p:sp>
      <p:sp>
        <p:nvSpPr>
          <p:cNvPr id="23" name="TextBox 22"/>
          <p:cNvSpPr txBox="1"/>
          <p:nvPr/>
        </p:nvSpPr>
        <p:spPr>
          <a:xfrm>
            <a:off x="6437376" y="4864608"/>
            <a:ext cx="4983480" cy="201168"/>
          </a:xfrm>
          <a:prstGeom prst="rect">
            <a:avLst/>
          </a:prstGeom>
          <a:noFill/>
        </p:spPr>
        <p:txBody>
          <a:bodyPr wrap="square" lIns="0" rIns="0" tIns="0" bIns="0">
            <a:spAutoFit/>
          </a:bodyPr>
          <a:lstStyle/>
          <a:p>
            <a:pPr>
              <a:spcAft>
                <a:spcPts val="0"/>
              </a:spcAft>
              <a:defRPr sz="1200" b="1">
                <a:solidFill>
                  <a:srgbClr val="42694F"/>
                </a:solidFill>
                <a:latin typeface="Arial"/>
              </a:defRPr>
            </a:pPr>
            <a:r>
              <a:t>Evaluation and learning</a:t>
            </a:r>
          </a:p>
        </p:txBody>
      </p:sp>
      <p:sp>
        <p:nvSpPr>
          <p:cNvPr id="24" name="Rounded Rectangle 23"/>
          <p:cNvSpPr/>
          <p:nvPr/>
        </p:nvSpPr>
        <p:spPr>
          <a:xfrm>
            <a:off x="502920" y="5806440"/>
            <a:ext cx="11173968" cy="457200"/>
          </a:xfrm>
          <a:prstGeom prst="roundRect">
            <a:avLst>
              <a:gd name="adj" fmla="val 9000"/>
            </a:avLst>
          </a:prstGeom>
          <a:solidFill>
            <a:srgbClr val="F3E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925312"/>
            <a:ext cx="10808208"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A saved pointer or Rose summary is not proof that the raw transcript is backed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Identity follows the work without inventing agents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A thread can span many sessions. One session can contain several separately identified agents.</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04</a:t>
            </a:r>
          </a:p>
        </p:txBody>
      </p:sp>
      <p:sp>
        <p:nvSpPr>
          <p:cNvPr id="8" name="Rounded Rectangle 7"/>
          <p:cNvSpPr/>
          <p:nvPr/>
        </p:nvSpPr>
        <p:spPr>
          <a:xfrm>
            <a:off x="521207" y="1828800"/>
            <a:ext cx="6583680" cy="603504"/>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75104"/>
            <a:ext cx="6126480" cy="363220"/>
          </a:xfrm>
          <a:prstGeom prst="rect">
            <a:avLst/>
          </a:prstGeom>
          <a:noFill/>
        </p:spPr>
        <p:txBody>
          <a:bodyPr wrap="square" lIns="0" rIns="0" tIns="0" bIns="0">
            <a:spAutoFit/>
          </a:bodyPr>
          <a:lstStyle/>
          <a:p>
            <a:pPr>
              <a:spcAft>
                <a:spcPts val="0"/>
              </a:spcAft>
              <a:defRPr sz="2200" b="1">
                <a:solidFill>
                  <a:srgbClr val="FFFFFF"/>
                </a:solidFill>
                <a:latin typeface="Arial"/>
              </a:defRPr>
            </a:pPr>
            <a:r>
              <a:t>THREAD  /  the continuing line of work</a:t>
            </a:r>
          </a:p>
        </p:txBody>
      </p:sp>
      <p:sp>
        <p:nvSpPr>
          <p:cNvPr id="10" name="Rounded Rectangle 9"/>
          <p:cNvSpPr/>
          <p:nvPr/>
        </p:nvSpPr>
        <p:spPr>
          <a:xfrm>
            <a:off x="521207" y="2889504"/>
            <a:ext cx="3108960" cy="91440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054096"/>
            <a:ext cx="2770632" cy="363220"/>
          </a:xfrm>
          <a:prstGeom prst="rect">
            <a:avLst/>
          </a:prstGeom>
          <a:noFill/>
        </p:spPr>
        <p:txBody>
          <a:bodyPr wrap="square" lIns="0" rIns="0" tIns="0" bIns="0">
            <a:spAutoFit/>
          </a:bodyPr>
          <a:lstStyle/>
          <a:p>
            <a:pPr>
              <a:spcAft>
                <a:spcPts val="0"/>
              </a:spcAft>
              <a:defRPr sz="2200" b="1">
                <a:solidFill>
                  <a:srgbClr val="1D302B"/>
                </a:solidFill>
                <a:latin typeface="Arial"/>
              </a:defRPr>
            </a:pPr>
            <a:r>
              <a:t>Session A</a:t>
            </a:r>
          </a:p>
        </p:txBody>
      </p:sp>
      <p:sp>
        <p:nvSpPr>
          <p:cNvPr id="12" name="TextBox 11"/>
          <p:cNvSpPr txBox="1"/>
          <p:nvPr/>
        </p:nvSpPr>
        <p:spPr>
          <a:xfrm>
            <a:off x="685800" y="3493008"/>
            <a:ext cx="2770632" cy="265176"/>
          </a:xfrm>
          <a:prstGeom prst="rect">
            <a:avLst/>
          </a:prstGeom>
          <a:noFill/>
        </p:spPr>
        <p:txBody>
          <a:bodyPr wrap="square" lIns="0" rIns="0" tIns="0" bIns="0">
            <a:spAutoFit/>
          </a:bodyPr>
          <a:lstStyle/>
          <a:p>
            <a:pPr>
              <a:spcAft>
                <a:spcPts val="0"/>
              </a:spcAft>
              <a:defRPr sz="1400" b="0">
                <a:solidFill>
                  <a:srgbClr val="61736B"/>
                </a:solidFill>
                <a:latin typeface="Arial"/>
              </a:defRPr>
            </a:pPr>
            <a:r>
              <a:t>Provider + native session ID</a:t>
            </a:r>
          </a:p>
        </p:txBody>
      </p:sp>
      <p:sp>
        <p:nvSpPr>
          <p:cNvPr id="13" name="Rounded Rectangle 12"/>
          <p:cNvSpPr/>
          <p:nvPr/>
        </p:nvSpPr>
        <p:spPr>
          <a:xfrm>
            <a:off x="3995928" y="2889504"/>
            <a:ext cx="3108960" cy="91440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3054096"/>
            <a:ext cx="2770632" cy="363220"/>
          </a:xfrm>
          <a:prstGeom prst="rect">
            <a:avLst/>
          </a:prstGeom>
          <a:noFill/>
        </p:spPr>
        <p:txBody>
          <a:bodyPr wrap="square" lIns="0" rIns="0" tIns="0" bIns="0">
            <a:spAutoFit/>
          </a:bodyPr>
          <a:lstStyle/>
          <a:p>
            <a:pPr>
              <a:spcAft>
                <a:spcPts val="0"/>
              </a:spcAft>
              <a:defRPr sz="2200" b="1">
                <a:solidFill>
                  <a:srgbClr val="1D302B"/>
                </a:solidFill>
                <a:latin typeface="Arial"/>
              </a:defRPr>
            </a:pPr>
            <a:r>
              <a:t>Session B</a:t>
            </a:r>
          </a:p>
        </p:txBody>
      </p:sp>
      <p:sp>
        <p:nvSpPr>
          <p:cNvPr id="15" name="TextBox 14"/>
          <p:cNvSpPr txBox="1"/>
          <p:nvPr/>
        </p:nvSpPr>
        <p:spPr>
          <a:xfrm>
            <a:off x="4160520" y="3493008"/>
            <a:ext cx="2770632" cy="265176"/>
          </a:xfrm>
          <a:prstGeom prst="rect">
            <a:avLst/>
          </a:prstGeom>
          <a:noFill/>
        </p:spPr>
        <p:txBody>
          <a:bodyPr wrap="square" lIns="0" rIns="0" tIns="0" bIns="0">
            <a:spAutoFit/>
          </a:bodyPr>
          <a:lstStyle/>
          <a:p>
            <a:pPr>
              <a:spcAft>
                <a:spcPts val="0"/>
              </a:spcAft>
              <a:defRPr sz="1400" b="0">
                <a:solidFill>
                  <a:srgbClr val="61736B"/>
                </a:solidFill>
                <a:latin typeface="Arial"/>
              </a:defRPr>
            </a:pPr>
            <a:r>
              <a:t>Continues the same thread</a:t>
            </a:r>
          </a:p>
        </p:txBody>
      </p:sp>
      <p:cxnSp>
        <p:nvCxnSpPr>
          <p:cNvPr id="16" name="Connector 15"/>
          <p:cNvCxnSpPr/>
          <p:nvPr/>
        </p:nvCxnSpPr>
        <p:spPr>
          <a:xfrm>
            <a:off x="2066543" y="2432304"/>
            <a:ext cx="0" cy="45720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550408" y="2432304"/>
            <a:ext cx="0" cy="45720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1207" y="4352544"/>
            <a:ext cx="1463040" cy="658368"/>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562856"/>
            <a:ext cx="1216152" cy="280670"/>
          </a:xfrm>
          <a:prstGeom prst="rect">
            <a:avLst/>
          </a:prstGeom>
          <a:noFill/>
        </p:spPr>
        <p:txBody>
          <a:bodyPr wrap="square" lIns="0" rIns="0" tIns="0" bIns="0">
            <a:spAutoFit/>
          </a:bodyPr>
          <a:lstStyle/>
          <a:p>
            <a:pPr>
              <a:spcAft>
                <a:spcPts val="0"/>
              </a:spcAft>
              <a:defRPr sz="1700" b="1">
                <a:solidFill>
                  <a:srgbClr val="1D302B"/>
                </a:solidFill>
                <a:latin typeface="Arial"/>
              </a:defRPr>
            </a:pPr>
            <a:r>
              <a:t>Agent A1</a:t>
            </a:r>
          </a:p>
        </p:txBody>
      </p:sp>
      <p:sp>
        <p:nvSpPr>
          <p:cNvPr id="20" name="Rounded Rectangle 19"/>
          <p:cNvSpPr/>
          <p:nvPr/>
        </p:nvSpPr>
        <p:spPr>
          <a:xfrm>
            <a:off x="2157984" y="4352544"/>
            <a:ext cx="1463040" cy="658368"/>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4562856"/>
            <a:ext cx="1216152" cy="280670"/>
          </a:xfrm>
          <a:prstGeom prst="rect">
            <a:avLst/>
          </a:prstGeom>
          <a:noFill/>
        </p:spPr>
        <p:txBody>
          <a:bodyPr wrap="square" lIns="0" rIns="0" tIns="0" bIns="0">
            <a:spAutoFit/>
          </a:bodyPr>
          <a:lstStyle/>
          <a:p>
            <a:pPr>
              <a:spcAft>
                <a:spcPts val="0"/>
              </a:spcAft>
              <a:defRPr sz="1700" b="1">
                <a:solidFill>
                  <a:srgbClr val="1D302B"/>
                </a:solidFill>
                <a:latin typeface="Arial"/>
              </a:defRPr>
            </a:pPr>
            <a:r>
              <a:t>Agent A2</a:t>
            </a:r>
          </a:p>
        </p:txBody>
      </p:sp>
      <p:cxnSp>
        <p:nvCxnSpPr>
          <p:cNvPr id="22" name="Connector 21"/>
          <p:cNvCxnSpPr/>
          <p:nvPr/>
        </p:nvCxnSpPr>
        <p:spPr>
          <a:xfrm>
            <a:off x="2066543" y="3803904"/>
            <a:ext cx="0" cy="301752"/>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52728" y="4105656"/>
            <a:ext cx="1636776"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52728" y="4105656"/>
            <a:ext cx="0" cy="246888"/>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889504" y="4105656"/>
            <a:ext cx="0" cy="246888"/>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5257800"/>
            <a:ext cx="6455664" cy="346710"/>
          </a:xfrm>
          <a:prstGeom prst="rect">
            <a:avLst/>
          </a:prstGeom>
          <a:noFill/>
        </p:spPr>
        <p:txBody>
          <a:bodyPr wrap="square" lIns="0" rIns="0" tIns="0" bIns="0">
            <a:spAutoFit/>
          </a:bodyPr>
          <a:lstStyle/>
          <a:p>
            <a:pPr>
              <a:spcAft>
                <a:spcPts val="0"/>
              </a:spcAft>
              <a:defRPr sz="2100" b="1">
                <a:solidFill>
                  <a:srgbClr val="42694F"/>
                </a:solidFill>
                <a:latin typeface="Arial"/>
              </a:defRPr>
            </a:pPr>
            <a:r>
              <a:t>Execution parent ≠ manager ≠ reviewer</a:t>
            </a:r>
          </a:p>
        </p:txBody>
      </p:sp>
      <p:sp>
        <p:nvSpPr>
          <p:cNvPr id="27" name="Rounded Rectangle 26"/>
          <p:cNvSpPr/>
          <p:nvPr/>
        </p:nvSpPr>
        <p:spPr>
          <a:xfrm>
            <a:off x="7516368" y="1828800"/>
            <a:ext cx="4160520" cy="377647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35824" y="2057400"/>
            <a:ext cx="3703320" cy="365760"/>
          </a:xfrm>
          <a:prstGeom prst="rect">
            <a:avLst/>
          </a:prstGeom>
          <a:noFill/>
        </p:spPr>
        <p:txBody>
          <a:bodyPr wrap="square" lIns="0" rIns="0" tIns="0" bIns="0">
            <a:spAutoFit/>
          </a:bodyPr>
          <a:lstStyle/>
          <a:p>
            <a:pPr>
              <a:spcAft>
                <a:spcPts val="0"/>
              </a:spcAft>
              <a:defRPr sz="2100" b="1">
                <a:solidFill>
                  <a:srgbClr val="1D302B"/>
                </a:solidFill>
                <a:latin typeface="Arial"/>
              </a:defRPr>
            </a:pPr>
            <a:r>
              <a:t>Keep the identifiers separate</a:t>
            </a:r>
          </a:p>
        </p:txBody>
      </p:sp>
      <p:sp>
        <p:nvSpPr>
          <p:cNvPr id="29" name="TextBox 28"/>
          <p:cNvSpPr txBox="1"/>
          <p:nvPr/>
        </p:nvSpPr>
        <p:spPr>
          <a:xfrm>
            <a:off x="7735824" y="2752344"/>
            <a:ext cx="3675887" cy="264160"/>
          </a:xfrm>
          <a:prstGeom prst="rect">
            <a:avLst/>
          </a:prstGeom>
          <a:noFill/>
        </p:spPr>
        <p:txBody>
          <a:bodyPr wrap="square" lIns="0" rIns="0" tIns="0" bIns="0">
            <a:spAutoFit/>
          </a:bodyPr>
          <a:lstStyle/>
          <a:p>
            <a:pPr>
              <a:spcAft>
                <a:spcPts val="0"/>
              </a:spcAft>
              <a:defRPr sz="1600" b="1">
                <a:solidFill>
                  <a:srgbClr val="42694F"/>
                </a:solidFill>
                <a:latin typeface="Arial"/>
              </a:defRPr>
            </a:pPr>
            <a:r>
              <a:t>Native IDs</a:t>
            </a:r>
          </a:p>
        </p:txBody>
      </p:sp>
      <p:sp>
        <p:nvSpPr>
          <p:cNvPr id="30" name="TextBox 29"/>
          <p:cNvSpPr txBox="1"/>
          <p:nvPr/>
        </p:nvSpPr>
        <p:spPr>
          <a:xfrm>
            <a:off x="7735824" y="3026663"/>
            <a:ext cx="3675887" cy="256032"/>
          </a:xfrm>
          <a:prstGeom prst="rect">
            <a:avLst/>
          </a:prstGeom>
          <a:noFill/>
        </p:spPr>
        <p:txBody>
          <a:bodyPr wrap="square" lIns="0" rIns="0" tIns="0" bIns="0">
            <a:spAutoFit/>
          </a:bodyPr>
          <a:lstStyle/>
          <a:p>
            <a:pPr>
              <a:spcAft>
                <a:spcPts val="0"/>
              </a:spcAft>
              <a:defRPr sz="1400" b="0">
                <a:solidFill>
                  <a:srgbClr val="61736B"/>
                </a:solidFill>
                <a:latin typeface="Arial"/>
              </a:defRPr>
            </a:pPr>
            <a:r>
              <a:t>Original session and agent identities</a:t>
            </a:r>
          </a:p>
        </p:txBody>
      </p:sp>
      <p:sp>
        <p:nvSpPr>
          <p:cNvPr id="31" name="TextBox 30"/>
          <p:cNvSpPr txBox="1"/>
          <p:nvPr/>
        </p:nvSpPr>
        <p:spPr>
          <a:xfrm>
            <a:off x="7735824" y="3410711"/>
            <a:ext cx="3675887" cy="264160"/>
          </a:xfrm>
          <a:prstGeom prst="rect">
            <a:avLst/>
          </a:prstGeom>
          <a:noFill/>
        </p:spPr>
        <p:txBody>
          <a:bodyPr wrap="square" lIns="0" rIns="0" tIns="0" bIns="0">
            <a:spAutoFit/>
          </a:bodyPr>
          <a:lstStyle/>
          <a:p>
            <a:pPr>
              <a:spcAft>
                <a:spcPts val="0"/>
              </a:spcAft>
              <a:defRPr sz="1600" b="1">
                <a:solidFill>
                  <a:srgbClr val="42694F"/>
                </a:solidFill>
                <a:latin typeface="Arial"/>
              </a:defRPr>
            </a:pPr>
            <a:r>
              <a:t>Catalogue UUID</a:t>
            </a:r>
          </a:p>
        </p:txBody>
      </p:sp>
      <p:sp>
        <p:nvSpPr>
          <p:cNvPr id="32" name="TextBox 31"/>
          <p:cNvSpPr txBox="1"/>
          <p:nvPr/>
        </p:nvSpPr>
        <p:spPr>
          <a:xfrm>
            <a:off x="7735824" y="3685031"/>
            <a:ext cx="3675887" cy="256032"/>
          </a:xfrm>
          <a:prstGeom prst="rect">
            <a:avLst/>
          </a:prstGeom>
          <a:noFill/>
        </p:spPr>
        <p:txBody>
          <a:bodyPr wrap="square" lIns="0" rIns="0" tIns="0" bIns="0">
            <a:spAutoFit/>
          </a:bodyPr>
          <a:lstStyle/>
          <a:p>
            <a:pPr>
              <a:spcAft>
                <a:spcPts val="0"/>
              </a:spcAft>
              <a:defRPr sz="1400" b="0">
                <a:solidFill>
                  <a:srgbClr val="61736B"/>
                </a:solidFill>
                <a:latin typeface="Arial"/>
              </a:defRPr>
            </a:pPr>
            <a:r>
              <a:t>The indexed record in memoryNet</a:t>
            </a:r>
          </a:p>
        </p:txBody>
      </p:sp>
      <p:sp>
        <p:nvSpPr>
          <p:cNvPr id="33" name="TextBox 32"/>
          <p:cNvSpPr txBox="1"/>
          <p:nvPr/>
        </p:nvSpPr>
        <p:spPr>
          <a:xfrm>
            <a:off x="7735824" y="4069079"/>
            <a:ext cx="3675887" cy="264160"/>
          </a:xfrm>
          <a:prstGeom prst="rect">
            <a:avLst/>
          </a:prstGeom>
          <a:noFill/>
        </p:spPr>
        <p:txBody>
          <a:bodyPr wrap="square" lIns="0" rIns="0" tIns="0" bIns="0">
            <a:spAutoFit/>
          </a:bodyPr>
          <a:lstStyle/>
          <a:p>
            <a:pPr>
              <a:spcAft>
                <a:spcPts val="0"/>
              </a:spcAft>
              <a:defRPr sz="1600" b="1">
                <a:solidFill>
                  <a:srgbClr val="42694F"/>
                </a:solidFill>
                <a:latin typeface="Arial"/>
              </a:defRPr>
            </a:pPr>
            <a:r>
              <a:t>Persona / skill ID</a:t>
            </a:r>
          </a:p>
        </p:txBody>
      </p:sp>
      <p:sp>
        <p:nvSpPr>
          <p:cNvPr id="34" name="TextBox 33"/>
          <p:cNvSpPr txBox="1"/>
          <p:nvPr/>
        </p:nvSpPr>
        <p:spPr>
          <a:xfrm>
            <a:off x="7735824" y="4343399"/>
            <a:ext cx="3675887" cy="256032"/>
          </a:xfrm>
          <a:prstGeom prst="rect">
            <a:avLst/>
          </a:prstGeom>
          <a:noFill/>
        </p:spPr>
        <p:txBody>
          <a:bodyPr wrap="square" lIns="0" rIns="0" tIns="0" bIns="0">
            <a:spAutoFit/>
          </a:bodyPr>
          <a:lstStyle/>
          <a:p>
            <a:pPr>
              <a:spcAft>
                <a:spcPts val="0"/>
              </a:spcAft>
              <a:defRPr sz="1400" b="0">
                <a:solidFill>
                  <a:srgbClr val="61736B"/>
                </a:solidFill>
                <a:latin typeface="Arial"/>
              </a:defRPr>
            </a:pPr>
            <a:r>
              <a:t>Reusable definition, with version</a:t>
            </a:r>
          </a:p>
        </p:txBody>
      </p:sp>
      <p:sp>
        <p:nvSpPr>
          <p:cNvPr id="35" name="TextBox 34"/>
          <p:cNvSpPr txBox="1"/>
          <p:nvPr/>
        </p:nvSpPr>
        <p:spPr>
          <a:xfrm>
            <a:off x="7735824" y="4727448"/>
            <a:ext cx="3675887" cy="264160"/>
          </a:xfrm>
          <a:prstGeom prst="rect">
            <a:avLst/>
          </a:prstGeom>
          <a:noFill/>
        </p:spPr>
        <p:txBody>
          <a:bodyPr wrap="square" lIns="0" rIns="0" tIns="0" bIns="0">
            <a:spAutoFit/>
          </a:bodyPr>
          <a:lstStyle/>
          <a:p>
            <a:pPr>
              <a:spcAft>
                <a:spcPts val="0"/>
              </a:spcAft>
              <a:defRPr sz="1600" b="1">
                <a:solidFill>
                  <a:srgbClr val="42694F"/>
                </a:solidFill>
                <a:latin typeface="Arial"/>
              </a:defRPr>
            </a:pPr>
            <a:r>
              <a:t>Fingerprint</a:t>
            </a:r>
          </a:p>
        </p:txBody>
      </p:sp>
      <p:sp>
        <p:nvSpPr>
          <p:cNvPr id="36" name="TextBox 35"/>
          <p:cNvSpPr txBox="1"/>
          <p:nvPr/>
        </p:nvSpPr>
        <p:spPr>
          <a:xfrm>
            <a:off x="7735824" y="5001768"/>
            <a:ext cx="3675887" cy="256032"/>
          </a:xfrm>
          <a:prstGeom prst="rect">
            <a:avLst/>
          </a:prstGeom>
          <a:noFill/>
        </p:spPr>
        <p:txBody>
          <a:bodyPr wrap="square" lIns="0" rIns="0" tIns="0" bIns="0">
            <a:spAutoFit/>
          </a:bodyPr>
          <a:lstStyle/>
          <a:p>
            <a:pPr>
              <a:spcAft>
                <a:spcPts val="0"/>
              </a:spcAft>
              <a:defRPr sz="1400" b="0">
                <a:solidFill>
                  <a:srgbClr val="61736B"/>
                </a:solidFill>
                <a:latin typeface="Arial"/>
              </a:defRPr>
            </a:pPr>
            <a:r>
              <a:t>Checks exact content; not quality</a:t>
            </a:r>
          </a:p>
        </p:txBody>
      </p:sp>
      <p:sp>
        <p:nvSpPr>
          <p:cNvPr id="37" name="Rounded Rectangle 36"/>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925312"/>
            <a:ext cx="10808208"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Unknown native IDs stay unknown. New agents continue the thread with their own identities.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A new agent needs two inputs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Choose an agent type and a thread ID; the same API feeds the human inspector and the agent.</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05</a:t>
            </a:r>
          </a:p>
        </p:txBody>
      </p:sp>
      <p:sp>
        <p:nvSpPr>
          <p:cNvPr id="8" name="Rounded Rectangle 7"/>
          <p:cNvSpPr/>
          <p:nvPr/>
        </p:nvSpPr>
        <p:spPr>
          <a:xfrm>
            <a:off x="521207" y="1874519"/>
            <a:ext cx="2926080" cy="320040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7" y="1874519"/>
            <a:ext cx="50292" cy="3200400"/>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039112"/>
            <a:ext cx="252374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The request</a:t>
            </a:r>
          </a:p>
        </p:txBody>
      </p:sp>
      <p:sp>
        <p:nvSpPr>
          <p:cNvPr id="11" name="TextBox 10"/>
          <p:cNvSpPr txBox="1"/>
          <p:nvPr/>
        </p:nvSpPr>
        <p:spPr>
          <a:xfrm>
            <a:off x="722375" y="2651760"/>
            <a:ext cx="2523744" cy="2286000"/>
          </a:xfrm>
          <a:prstGeom prst="rect">
            <a:avLst/>
          </a:prstGeom>
          <a:noFill/>
        </p:spPr>
        <p:txBody>
          <a:bodyPr wrap="square" lIns="0" rIns="0" tIns="0" bIns="0">
            <a:spAutoFit/>
          </a:bodyPr>
          <a:lstStyle/>
          <a:p>
            <a:pPr>
              <a:spcAft>
                <a:spcPts val="300"/>
              </a:spcAft>
              <a:defRPr sz="2100" b="0">
                <a:solidFill>
                  <a:srgbClr val="61736B"/>
                </a:solidFill>
                <a:latin typeface="Arial"/>
              </a:defRPr>
            </a:pPr>
            <a:r>
              <a:t>Agent type</a:t>
            </a:r>
          </a:p>
          <a:p>
            <a:pPr>
              <a:spcAft>
                <a:spcPts val="300"/>
              </a:spcAft>
              <a:defRPr sz="2100" b="0">
                <a:solidFill>
                  <a:srgbClr val="61736B"/>
                </a:solidFill>
                <a:latin typeface="Arial"/>
              </a:defRPr>
            </a:pPr>
            <a:r>
              <a:t>data_engineer</a:t>
            </a:r>
          </a:p>
          <a:p>
            <a:pPr>
              <a:spcAft>
                <a:spcPts val="0"/>
              </a:spcAft>
              <a:defRPr sz="840" b="0">
                <a:solidFill>
                  <a:srgbClr val="61736B"/>
                </a:solidFill>
                <a:latin typeface="Arial"/>
              </a:defRPr>
            </a:pPr>
          </a:p>
          <a:p>
            <a:pPr>
              <a:spcAft>
                <a:spcPts val="300"/>
              </a:spcAft>
              <a:defRPr sz="2100" b="0">
                <a:solidFill>
                  <a:srgbClr val="61736B"/>
                </a:solidFill>
                <a:latin typeface="Arial"/>
              </a:defRPr>
            </a:pPr>
            <a:r>
              <a:t>Thread ID</a:t>
            </a:r>
          </a:p>
          <a:p>
            <a:pPr>
              <a:spcAft>
                <a:spcPts val="300"/>
              </a:spcAft>
              <a:defRPr sz="2100" b="0">
                <a:solidFill>
                  <a:srgbClr val="61736B"/>
                </a:solidFill>
                <a:latin typeface="Arial"/>
              </a:defRPr>
            </a:pPr>
            <a:r>
              <a:t>The saved thread UUID</a:t>
            </a:r>
          </a:p>
        </p:txBody>
      </p:sp>
      <p:sp>
        <p:nvSpPr>
          <p:cNvPr id="12" name="Chevron 11"/>
          <p:cNvSpPr/>
          <p:nvPr/>
        </p:nvSpPr>
        <p:spPr>
          <a:xfrm>
            <a:off x="3630168" y="3154680"/>
            <a:ext cx="438912" cy="228600"/>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61104" y="1874519"/>
            <a:ext cx="3657600" cy="320040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61104" y="1874519"/>
            <a:ext cx="50292" cy="3200400"/>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039112"/>
            <a:ext cx="325526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The resume response</a:t>
            </a:r>
          </a:p>
        </p:txBody>
      </p:sp>
      <p:sp>
        <p:nvSpPr>
          <p:cNvPr id="16" name="TextBox 15"/>
          <p:cNvSpPr txBox="1"/>
          <p:nvPr/>
        </p:nvSpPr>
        <p:spPr>
          <a:xfrm>
            <a:off x="4462272" y="2651760"/>
            <a:ext cx="3255264" cy="2286000"/>
          </a:xfrm>
          <a:prstGeom prst="rect">
            <a:avLst/>
          </a:prstGeom>
          <a:noFill/>
        </p:spPr>
        <p:txBody>
          <a:bodyPr wrap="square" lIns="0" rIns="0" tIns="0" bIns="0">
            <a:spAutoFit/>
          </a:bodyPr>
          <a:lstStyle/>
          <a:p>
            <a:pPr>
              <a:spcAft>
                <a:spcPts val="300"/>
              </a:spcAft>
              <a:defRPr sz="1900" b="0">
                <a:solidFill>
                  <a:srgbClr val="61736B"/>
                </a:solidFill>
                <a:latin typeface="Arial"/>
              </a:defRPr>
            </a:pPr>
            <a:r>
              <a:t>Selected persona + skill text</a:t>
            </a:r>
          </a:p>
          <a:p>
            <a:pPr>
              <a:spcAft>
                <a:spcPts val="300"/>
              </a:spcAft>
              <a:defRPr sz="1900" b="0">
                <a:solidFill>
                  <a:srgbClr val="61736B"/>
                </a:solidFill>
                <a:latin typeface="Arial"/>
              </a:defRPr>
            </a:pPr>
            <a:r>
              <a:t>Continuation brief</a:t>
            </a:r>
          </a:p>
          <a:p>
            <a:pPr>
              <a:spcAft>
                <a:spcPts val="300"/>
              </a:spcAft>
              <a:defRPr sz="1900" b="0">
                <a:solidFill>
                  <a:srgbClr val="61736B"/>
                </a:solidFill>
                <a:latin typeface="Arial"/>
              </a:defRPr>
            </a:pPr>
            <a:r>
              <a:t>Original source references</a:t>
            </a:r>
          </a:p>
          <a:p>
            <a:pPr>
              <a:spcAft>
                <a:spcPts val="300"/>
              </a:spcAft>
              <a:defRPr sz="1900" b="0">
                <a:solidFill>
                  <a:srgbClr val="61736B"/>
                </a:solidFill>
                <a:latin typeface="Arial"/>
              </a:defRPr>
            </a:pPr>
            <a:r>
              <a:t>Outputs, capture dates, and gaps</a:t>
            </a:r>
          </a:p>
        </p:txBody>
      </p:sp>
      <p:sp>
        <p:nvSpPr>
          <p:cNvPr id="17" name="Chevron 16"/>
          <p:cNvSpPr/>
          <p:nvPr/>
        </p:nvSpPr>
        <p:spPr>
          <a:xfrm>
            <a:off x="8110727" y="3154680"/>
            <a:ext cx="438912" cy="228600"/>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32520" y="1874519"/>
            <a:ext cx="2944368" cy="320040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1874519"/>
            <a:ext cx="50292" cy="3200400"/>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33688" y="2039112"/>
            <a:ext cx="2542032"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New execution</a:t>
            </a:r>
          </a:p>
        </p:txBody>
      </p:sp>
      <p:sp>
        <p:nvSpPr>
          <p:cNvPr id="21" name="TextBox 20"/>
          <p:cNvSpPr txBox="1"/>
          <p:nvPr/>
        </p:nvSpPr>
        <p:spPr>
          <a:xfrm>
            <a:off x="8933688" y="2651760"/>
            <a:ext cx="2542032" cy="2286000"/>
          </a:xfrm>
          <a:prstGeom prst="rect">
            <a:avLst/>
          </a:prstGeom>
          <a:noFill/>
        </p:spPr>
        <p:txBody>
          <a:bodyPr wrap="square" lIns="0" rIns="0" tIns="0" bIns="0">
            <a:spAutoFit/>
          </a:bodyPr>
          <a:lstStyle/>
          <a:p>
            <a:pPr>
              <a:spcAft>
                <a:spcPts val="300"/>
              </a:spcAft>
              <a:defRPr sz="1800" b="0">
                <a:solidFill>
                  <a:srgbClr val="61736B"/>
                </a:solidFill>
                <a:latin typeface="Arial"/>
              </a:defRPr>
            </a:pPr>
            <a:r>
              <a:t>Read the relevant evidence</a:t>
            </a:r>
          </a:p>
          <a:p>
            <a:pPr>
              <a:spcAft>
                <a:spcPts val="300"/>
              </a:spcAft>
              <a:defRPr sz="1800" b="0">
                <a:solidFill>
                  <a:srgbClr val="61736B"/>
                </a:solidFill>
                <a:latin typeface="Arial"/>
              </a:defRPr>
            </a:pPr>
            <a:r>
              <a:t>Take the current assignment</a:t>
            </a:r>
          </a:p>
          <a:p>
            <a:pPr>
              <a:spcAft>
                <a:spcPts val="300"/>
              </a:spcAft>
              <a:defRPr sz="1800" b="0">
                <a:solidFill>
                  <a:srgbClr val="61736B"/>
                </a:solidFill>
                <a:latin typeface="Arial"/>
              </a:defRPr>
            </a:pPr>
            <a:r>
              <a:t>Work or escalate</a:t>
            </a:r>
          </a:p>
          <a:p>
            <a:pPr>
              <a:spcAft>
                <a:spcPts val="300"/>
              </a:spcAft>
              <a:defRPr sz="1800" b="0">
                <a:solidFill>
                  <a:srgbClr val="61736B"/>
                </a:solidFill>
                <a:latin typeface="Arial"/>
              </a:defRPr>
            </a:pPr>
            <a:r>
              <a:t>Leave a linked checkpoint</a:t>
            </a:r>
          </a:p>
        </p:txBody>
      </p:sp>
      <p:sp>
        <p:nvSpPr>
          <p:cNvPr id="22" name="Rounded Rectangle 21"/>
          <p:cNvSpPr/>
          <p:nvPr/>
        </p:nvSpPr>
        <p:spPr>
          <a:xfrm>
            <a:off x="521207" y="5358384"/>
            <a:ext cx="11155680" cy="685800"/>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5559552"/>
            <a:ext cx="10789920" cy="280670"/>
          </a:xfrm>
          <a:prstGeom prst="rect">
            <a:avLst/>
          </a:prstGeom>
          <a:noFill/>
        </p:spPr>
        <p:txBody>
          <a:bodyPr wrap="square" lIns="0" rIns="0" tIns="0" bIns="0">
            <a:spAutoFit/>
          </a:bodyPr>
          <a:lstStyle/>
          <a:p>
            <a:pPr>
              <a:spcAft>
                <a:spcPts val="0"/>
              </a:spcAft>
              <a:defRPr sz="1700" b="0">
                <a:solidFill>
                  <a:srgbClr val="FFFFFF"/>
                </a:solidFill>
                <a:latin typeface="Consolas"/>
              </a:defRPr>
            </a:pPr>
            <a:r>
              <a:t>GET /api/thread/resume?id=&lt;thread UUID&gt;&amp;role=data_engineer&amp;format=json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Every agent follows the same small loop</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Its persona defines the job, standards, relationships, and when to ask for help.</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06</a:t>
            </a:r>
          </a:p>
        </p:txBody>
      </p:sp>
      <p:sp>
        <p:nvSpPr>
          <p:cNvPr id="8" name="Rounded Rectangle 7"/>
          <p:cNvSpPr/>
          <p:nvPr/>
        </p:nvSpPr>
        <p:spPr>
          <a:xfrm>
            <a:off x="521207" y="1920240"/>
            <a:ext cx="5303520" cy="154533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7" y="1920240"/>
            <a:ext cx="50292" cy="1545336"/>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084832"/>
            <a:ext cx="4901183"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OBSERVE</a:t>
            </a:r>
          </a:p>
        </p:txBody>
      </p:sp>
      <p:sp>
        <p:nvSpPr>
          <p:cNvPr id="11" name="TextBox 10"/>
          <p:cNvSpPr txBox="1"/>
          <p:nvPr/>
        </p:nvSpPr>
        <p:spPr>
          <a:xfrm>
            <a:off x="722375" y="2697480"/>
            <a:ext cx="4901183" cy="630936"/>
          </a:xfrm>
          <a:prstGeom prst="rect">
            <a:avLst/>
          </a:prstGeom>
          <a:noFill/>
        </p:spPr>
        <p:txBody>
          <a:bodyPr wrap="square" lIns="0" rIns="0" tIns="0" bIns="0">
            <a:spAutoFit/>
          </a:bodyPr>
          <a:lstStyle/>
          <a:p>
            <a:pPr>
              <a:spcAft>
                <a:spcPts val="0"/>
              </a:spcAft>
              <a:defRPr sz="1800" b="0">
                <a:solidFill>
                  <a:srgbClr val="61736B"/>
                </a:solidFill>
                <a:latin typeface="Arial"/>
              </a:defRPr>
            </a:pPr>
            <a:r>
              <a:t>Read the assignment, prior work, and current evidence.</a:t>
            </a:r>
          </a:p>
        </p:txBody>
      </p:sp>
      <p:sp>
        <p:nvSpPr>
          <p:cNvPr id="12" name="Rounded Rectangle 11"/>
          <p:cNvSpPr/>
          <p:nvPr/>
        </p:nvSpPr>
        <p:spPr>
          <a:xfrm>
            <a:off x="6355080" y="1920240"/>
            <a:ext cx="5303520" cy="154533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920240"/>
            <a:ext cx="50292" cy="1545336"/>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2084832"/>
            <a:ext cx="4901183"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ORIENT</a:t>
            </a:r>
          </a:p>
        </p:txBody>
      </p:sp>
      <p:sp>
        <p:nvSpPr>
          <p:cNvPr id="15" name="TextBox 14"/>
          <p:cNvSpPr txBox="1"/>
          <p:nvPr/>
        </p:nvSpPr>
        <p:spPr>
          <a:xfrm>
            <a:off x="6556248" y="2697480"/>
            <a:ext cx="4901183" cy="630936"/>
          </a:xfrm>
          <a:prstGeom prst="rect">
            <a:avLst/>
          </a:prstGeom>
          <a:noFill/>
        </p:spPr>
        <p:txBody>
          <a:bodyPr wrap="square" lIns="0" rIns="0" tIns="0" bIns="0">
            <a:spAutoFit/>
          </a:bodyPr>
          <a:lstStyle/>
          <a:p>
            <a:pPr>
              <a:spcAft>
                <a:spcPts val="0"/>
              </a:spcAft>
              <a:defRPr sz="1800" b="0">
                <a:solidFill>
                  <a:srgbClr val="61736B"/>
                </a:solidFill>
                <a:latin typeface="Arial"/>
              </a:defRPr>
            </a:pPr>
            <a:r>
              <a:t>Resolve definitions, uncertainty, dependencies, and scope.</a:t>
            </a:r>
          </a:p>
        </p:txBody>
      </p:sp>
      <p:sp>
        <p:nvSpPr>
          <p:cNvPr id="16" name="Rounded Rectangle 15"/>
          <p:cNvSpPr/>
          <p:nvPr/>
        </p:nvSpPr>
        <p:spPr>
          <a:xfrm>
            <a:off x="6355080" y="3831336"/>
            <a:ext cx="5303520" cy="154533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3831336"/>
            <a:ext cx="50292" cy="1545336"/>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3995928"/>
            <a:ext cx="4901183"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DECIDE</a:t>
            </a:r>
          </a:p>
        </p:txBody>
      </p:sp>
      <p:sp>
        <p:nvSpPr>
          <p:cNvPr id="19" name="TextBox 18"/>
          <p:cNvSpPr txBox="1"/>
          <p:nvPr/>
        </p:nvSpPr>
        <p:spPr>
          <a:xfrm>
            <a:off x="6556248" y="4608576"/>
            <a:ext cx="4901183" cy="630936"/>
          </a:xfrm>
          <a:prstGeom prst="rect">
            <a:avLst/>
          </a:prstGeom>
          <a:noFill/>
        </p:spPr>
        <p:txBody>
          <a:bodyPr wrap="square" lIns="0" rIns="0" tIns="0" bIns="0">
            <a:spAutoFit/>
          </a:bodyPr>
          <a:lstStyle/>
          <a:p>
            <a:pPr>
              <a:spcAft>
                <a:spcPts val="0"/>
              </a:spcAft>
              <a:defRPr sz="1800" b="0">
                <a:solidFill>
                  <a:srgbClr val="61736B"/>
                </a:solidFill>
                <a:latin typeface="Arial"/>
              </a:defRPr>
            </a:pPr>
            <a:r>
              <a:t>Choose the next action, a targeted question, or an escalation.</a:t>
            </a:r>
          </a:p>
        </p:txBody>
      </p:sp>
      <p:sp>
        <p:nvSpPr>
          <p:cNvPr id="20" name="Rounded Rectangle 19"/>
          <p:cNvSpPr/>
          <p:nvPr/>
        </p:nvSpPr>
        <p:spPr>
          <a:xfrm>
            <a:off x="521207" y="3831336"/>
            <a:ext cx="5303520" cy="154533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7" y="3831336"/>
            <a:ext cx="50292" cy="1545336"/>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3995928"/>
            <a:ext cx="4901183"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ACT + CHECK</a:t>
            </a:r>
          </a:p>
        </p:txBody>
      </p:sp>
      <p:sp>
        <p:nvSpPr>
          <p:cNvPr id="23" name="TextBox 22"/>
          <p:cNvSpPr txBox="1"/>
          <p:nvPr/>
        </p:nvSpPr>
        <p:spPr>
          <a:xfrm>
            <a:off x="722375" y="4608576"/>
            <a:ext cx="4901183" cy="630936"/>
          </a:xfrm>
          <a:prstGeom prst="rect">
            <a:avLst/>
          </a:prstGeom>
          <a:noFill/>
        </p:spPr>
        <p:txBody>
          <a:bodyPr wrap="square" lIns="0" rIns="0" tIns="0" bIns="0">
            <a:spAutoFit/>
          </a:bodyPr>
          <a:lstStyle/>
          <a:p>
            <a:pPr>
              <a:spcAft>
                <a:spcPts val="0"/>
              </a:spcAft>
              <a:defRPr sz="1800" b="0">
                <a:solidFill>
                  <a:srgbClr val="61736B"/>
                </a:solidFill>
                <a:latin typeface="Arial"/>
              </a:defRPr>
            </a:pPr>
            <a:r>
              <a:t>Produce the output, check it, and record the result.</a:t>
            </a:r>
          </a:p>
        </p:txBody>
      </p:sp>
      <p:sp>
        <p:nvSpPr>
          <p:cNvPr id="24" name="Chevron 23"/>
          <p:cNvSpPr/>
          <p:nvPr/>
        </p:nvSpPr>
        <p:spPr>
          <a:xfrm>
            <a:off x="5934456" y="2606040"/>
            <a:ext cx="283464" cy="228600"/>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rot="10800000">
            <a:off x="5934456" y="4517136"/>
            <a:ext cx="283464" cy="228600"/>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9006840" y="3465576"/>
            <a:ext cx="0" cy="365760"/>
          </a:xfrm>
          <a:prstGeom prst="line">
            <a:avLst/>
          </a:prstGeom>
          <a:ln w="25400">
            <a:solidFill>
              <a:srgbClr val="42694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172968" y="3465576"/>
            <a:ext cx="0" cy="365760"/>
          </a:xfrm>
          <a:prstGeom prst="line">
            <a:avLst/>
          </a:prstGeom>
          <a:ln w="25400">
            <a:solidFill>
              <a:srgbClr val="42694F"/>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Escalation names the gap, needed input, owner, and deadline. A tag alone does not deliver a message.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The firm coordinates work and independent judgment</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PMs own portfolio decisions. CIO coordinates investment priorities; CRO supplies an independent risk view.</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07</a:t>
            </a:r>
          </a:p>
        </p:txBody>
      </p:sp>
      <p:sp>
        <p:nvSpPr>
          <p:cNvPr id="8" name="Rounded Rectangle 7"/>
          <p:cNvSpPr/>
          <p:nvPr/>
        </p:nvSpPr>
        <p:spPr>
          <a:xfrm>
            <a:off x="2697480" y="1828800"/>
            <a:ext cx="3017520" cy="630936"/>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52928" y="2011680"/>
            <a:ext cx="2706624" cy="379730"/>
          </a:xfrm>
          <a:prstGeom prst="rect">
            <a:avLst/>
          </a:prstGeom>
          <a:noFill/>
        </p:spPr>
        <p:txBody>
          <a:bodyPr wrap="square" lIns="0" rIns="0" tIns="0" bIns="0">
            <a:spAutoFit/>
          </a:bodyPr>
          <a:lstStyle/>
          <a:p>
            <a:pPr algn="ctr">
              <a:spcAft>
                <a:spcPts val="0"/>
              </a:spcAft>
              <a:defRPr sz="2300" b="1">
                <a:solidFill>
                  <a:srgbClr val="FFFFFF"/>
                </a:solidFill>
                <a:latin typeface="Arial"/>
              </a:defRPr>
            </a:pPr>
            <a:r>
              <a:t>CIO</a:t>
            </a:r>
          </a:p>
        </p:txBody>
      </p:sp>
      <p:sp>
        <p:nvSpPr>
          <p:cNvPr id="10" name="Rounded Rectangle 9"/>
          <p:cNvSpPr/>
          <p:nvPr/>
        </p:nvSpPr>
        <p:spPr>
          <a:xfrm>
            <a:off x="7726679" y="1828800"/>
            <a:ext cx="3017520" cy="630936"/>
          </a:xfrm>
          <a:prstGeom prst="roundRect">
            <a:avLst>
              <a:gd name="adj" fmla="val 9000"/>
            </a:avLst>
          </a:prstGeom>
          <a:solidFill>
            <a:srgbClr val="E5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91272" y="2011680"/>
            <a:ext cx="2688336" cy="379730"/>
          </a:xfrm>
          <a:prstGeom prst="rect">
            <a:avLst/>
          </a:prstGeom>
          <a:noFill/>
        </p:spPr>
        <p:txBody>
          <a:bodyPr wrap="square" lIns="0" rIns="0" tIns="0" bIns="0">
            <a:spAutoFit/>
          </a:bodyPr>
          <a:lstStyle/>
          <a:p>
            <a:pPr algn="ctr">
              <a:spcAft>
                <a:spcPts val="0"/>
              </a:spcAft>
              <a:defRPr sz="2300" b="1">
                <a:solidFill>
                  <a:srgbClr val="425E79"/>
                </a:solidFill>
                <a:latin typeface="Arial"/>
              </a:defRPr>
            </a:pPr>
            <a:r>
              <a:t>CRO</a:t>
            </a:r>
          </a:p>
        </p:txBody>
      </p:sp>
      <p:cxnSp>
        <p:nvCxnSpPr>
          <p:cNvPr id="12" name="Connector 11"/>
          <p:cNvCxnSpPr/>
          <p:nvPr/>
        </p:nvCxnSpPr>
        <p:spPr>
          <a:xfrm>
            <a:off x="5715000" y="2148840"/>
            <a:ext cx="2011679" cy="0"/>
          </a:xfrm>
          <a:prstGeom prst="line">
            <a:avLst/>
          </a:prstGeom>
          <a:ln w="25400">
            <a:solidFill>
              <a:srgbClr val="425E79"/>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25312" y="1810512"/>
            <a:ext cx="1581912" cy="210312"/>
          </a:xfrm>
          <a:prstGeom prst="rect">
            <a:avLst/>
          </a:prstGeom>
          <a:noFill/>
        </p:spPr>
        <p:txBody>
          <a:bodyPr wrap="square" lIns="0" rIns="0" tIns="0" bIns="0">
            <a:spAutoFit/>
          </a:bodyPr>
          <a:lstStyle/>
          <a:p>
            <a:pPr>
              <a:spcAft>
                <a:spcPts val="0"/>
              </a:spcAft>
              <a:defRPr sz="1000" b="1">
                <a:solidFill>
                  <a:srgbClr val="425E79"/>
                </a:solidFill>
                <a:latin typeface="Arial"/>
              </a:defRPr>
            </a:pPr>
            <a:r>
              <a:t>Independent challenge</a:t>
            </a:r>
          </a:p>
        </p:txBody>
      </p:sp>
      <p:sp>
        <p:nvSpPr>
          <p:cNvPr id="14" name="Rounded Rectangle 13"/>
          <p:cNvSpPr/>
          <p:nvPr/>
        </p:nvSpPr>
        <p:spPr>
          <a:xfrm>
            <a:off x="2697480" y="2926080"/>
            <a:ext cx="3017520" cy="704088"/>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2928" y="3108960"/>
            <a:ext cx="2706624" cy="363220"/>
          </a:xfrm>
          <a:prstGeom prst="rect">
            <a:avLst/>
          </a:prstGeom>
          <a:noFill/>
        </p:spPr>
        <p:txBody>
          <a:bodyPr wrap="square" lIns="0" rIns="0" tIns="0" bIns="0">
            <a:spAutoFit/>
          </a:bodyPr>
          <a:lstStyle/>
          <a:p>
            <a:pPr algn="ctr">
              <a:spcAft>
                <a:spcPts val="0"/>
              </a:spcAft>
              <a:defRPr sz="2200" b="1">
                <a:solidFill>
                  <a:srgbClr val="1D302B"/>
                </a:solidFill>
                <a:latin typeface="Arial"/>
              </a:defRPr>
            </a:pPr>
            <a:r>
              <a:t>Portfolio managers</a:t>
            </a:r>
          </a:p>
        </p:txBody>
      </p:sp>
      <p:cxnSp>
        <p:nvCxnSpPr>
          <p:cNvPr id="16" name="Connector 15"/>
          <p:cNvCxnSpPr/>
          <p:nvPr/>
        </p:nvCxnSpPr>
        <p:spPr>
          <a:xfrm>
            <a:off x="4206240" y="2459736"/>
            <a:ext cx="0" cy="466344"/>
          </a:xfrm>
          <a:prstGeom prst="line">
            <a:avLst/>
          </a:prstGeom>
          <a:ln w="25400">
            <a:solidFill>
              <a:srgbClr val="42694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235440" y="2459736"/>
            <a:ext cx="0" cy="804672"/>
          </a:xfrm>
          <a:prstGeom prst="line">
            <a:avLst/>
          </a:prstGeom>
          <a:ln w="25400">
            <a:solidFill>
              <a:srgbClr val="425E7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15000" y="3264408"/>
            <a:ext cx="3520440" cy="0"/>
          </a:xfrm>
          <a:prstGeom prst="line">
            <a:avLst/>
          </a:prstGeom>
          <a:ln w="25400">
            <a:solidFill>
              <a:srgbClr val="425E79"/>
            </a:solidFill>
            <a:headEnd type="triangle"/>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71616" y="2862072"/>
            <a:ext cx="2898648" cy="265176"/>
          </a:xfrm>
          <a:prstGeom prst="rect">
            <a:avLst/>
          </a:prstGeom>
          <a:noFill/>
        </p:spPr>
        <p:txBody>
          <a:bodyPr wrap="square" lIns="0" rIns="0" tIns="0" bIns="0">
            <a:spAutoFit/>
          </a:bodyPr>
          <a:lstStyle/>
          <a:p>
            <a:pPr>
              <a:spcAft>
                <a:spcPts val="0"/>
              </a:spcAft>
              <a:defRPr sz="1400" b="1">
                <a:solidFill>
                  <a:srgbClr val="425E79"/>
                </a:solidFill>
                <a:latin typeface="Arial"/>
              </a:defRPr>
            </a:pPr>
            <a:r>
              <a:t>CRO → PM: risk review</a:t>
            </a:r>
          </a:p>
        </p:txBody>
      </p:sp>
      <p:sp>
        <p:nvSpPr>
          <p:cNvPr id="20" name="Rounded Rectangle 19"/>
          <p:cNvSpPr/>
          <p:nvPr/>
        </p:nvSpPr>
        <p:spPr>
          <a:xfrm>
            <a:off x="521207" y="4325112"/>
            <a:ext cx="2075688" cy="1069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517136"/>
            <a:ext cx="1801368" cy="265176"/>
          </a:xfrm>
          <a:prstGeom prst="rect">
            <a:avLst/>
          </a:prstGeom>
          <a:noFill/>
        </p:spPr>
        <p:txBody>
          <a:bodyPr wrap="square" lIns="0" rIns="0" tIns="0" bIns="0">
            <a:spAutoFit/>
          </a:bodyPr>
          <a:lstStyle/>
          <a:p>
            <a:pPr>
              <a:spcAft>
                <a:spcPts val="0"/>
              </a:spcAft>
              <a:defRPr sz="1400" b="1">
                <a:solidFill>
                  <a:srgbClr val="42694F"/>
                </a:solidFill>
                <a:latin typeface="Arial"/>
              </a:defRPr>
            </a:pPr>
            <a:r>
              <a:t>DATA</a:t>
            </a:r>
          </a:p>
        </p:txBody>
      </p:sp>
      <p:sp>
        <p:nvSpPr>
          <p:cNvPr id="22" name="TextBox 21"/>
          <p:cNvSpPr txBox="1"/>
          <p:nvPr/>
        </p:nvSpPr>
        <p:spPr>
          <a:xfrm>
            <a:off x="658368" y="4919472"/>
            <a:ext cx="1801368" cy="320040"/>
          </a:xfrm>
          <a:prstGeom prst="rect">
            <a:avLst/>
          </a:prstGeom>
          <a:noFill/>
        </p:spPr>
        <p:txBody>
          <a:bodyPr wrap="square" lIns="0" rIns="0" tIns="0" bIns="0">
            <a:spAutoFit/>
          </a:bodyPr>
          <a:lstStyle/>
          <a:p>
            <a:pPr>
              <a:spcAft>
                <a:spcPts val="0"/>
              </a:spcAft>
              <a:defRPr sz="1500" b="0">
                <a:solidFill>
                  <a:srgbClr val="61736B"/>
                </a:solidFill>
                <a:latin typeface="Arial"/>
              </a:defRPr>
            </a:pPr>
            <a:r>
              <a:t>Collect + validate</a:t>
            </a:r>
          </a:p>
        </p:txBody>
      </p:sp>
      <p:sp>
        <p:nvSpPr>
          <p:cNvPr id="23" name="Rounded Rectangle 22"/>
          <p:cNvSpPr/>
          <p:nvPr/>
        </p:nvSpPr>
        <p:spPr>
          <a:xfrm>
            <a:off x="2788920" y="4325112"/>
            <a:ext cx="2075688" cy="1069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79" y="4517136"/>
            <a:ext cx="1801368" cy="265176"/>
          </a:xfrm>
          <a:prstGeom prst="rect">
            <a:avLst/>
          </a:prstGeom>
          <a:noFill/>
        </p:spPr>
        <p:txBody>
          <a:bodyPr wrap="square" lIns="0" rIns="0" tIns="0" bIns="0">
            <a:spAutoFit/>
          </a:bodyPr>
          <a:lstStyle/>
          <a:p>
            <a:pPr>
              <a:spcAft>
                <a:spcPts val="0"/>
              </a:spcAft>
              <a:defRPr sz="1400" b="1">
                <a:solidFill>
                  <a:srgbClr val="42694F"/>
                </a:solidFill>
                <a:latin typeface="Arial"/>
              </a:defRPr>
            </a:pPr>
            <a:r>
              <a:t>RESEARCH</a:t>
            </a:r>
          </a:p>
        </p:txBody>
      </p:sp>
      <p:sp>
        <p:nvSpPr>
          <p:cNvPr id="25" name="TextBox 24"/>
          <p:cNvSpPr txBox="1"/>
          <p:nvPr/>
        </p:nvSpPr>
        <p:spPr>
          <a:xfrm>
            <a:off x="2926079" y="4919472"/>
            <a:ext cx="1801368" cy="320040"/>
          </a:xfrm>
          <a:prstGeom prst="rect">
            <a:avLst/>
          </a:prstGeom>
          <a:noFill/>
        </p:spPr>
        <p:txBody>
          <a:bodyPr wrap="square" lIns="0" rIns="0" tIns="0" bIns="0">
            <a:spAutoFit/>
          </a:bodyPr>
          <a:lstStyle/>
          <a:p>
            <a:pPr>
              <a:spcAft>
                <a:spcPts val="0"/>
              </a:spcAft>
              <a:defRPr sz="1500" b="0">
                <a:solidFill>
                  <a:srgbClr val="61736B"/>
                </a:solidFill>
                <a:latin typeface="Arial"/>
              </a:defRPr>
            </a:pPr>
            <a:r>
              <a:t>Explain + challenge</a:t>
            </a:r>
          </a:p>
        </p:txBody>
      </p:sp>
      <p:sp>
        <p:nvSpPr>
          <p:cNvPr id="26" name="Rounded Rectangle 25"/>
          <p:cNvSpPr/>
          <p:nvPr/>
        </p:nvSpPr>
        <p:spPr>
          <a:xfrm>
            <a:off x="5056632" y="4325112"/>
            <a:ext cx="2075688" cy="1069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93792" y="4517136"/>
            <a:ext cx="1801368" cy="265176"/>
          </a:xfrm>
          <a:prstGeom prst="rect">
            <a:avLst/>
          </a:prstGeom>
          <a:noFill/>
        </p:spPr>
        <p:txBody>
          <a:bodyPr wrap="square" lIns="0" rIns="0" tIns="0" bIns="0">
            <a:spAutoFit/>
          </a:bodyPr>
          <a:lstStyle/>
          <a:p>
            <a:pPr>
              <a:spcAft>
                <a:spcPts val="0"/>
              </a:spcAft>
              <a:defRPr sz="1400" b="1">
                <a:solidFill>
                  <a:srgbClr val="42694F"/>
                </a:solidFill>
                <a:latin typeface="Arial"/>
              </a:defRPr>
            </a:pPr>
            <a:r>
              <a:t>SIGNALS</a:t>
            </a:r>
          </a:p>
        </p:txBody>
      </p:sp>
      <p:sp>
        <p:nvSpPr>
          <p:cNvPr id="28" name="TextBox 27"/>
          <p:cNvSpPr txBox="1"/>
          <p:nvPr/>
        </p:nvSpPr>
        <p:spPr>
          <a:xfrm>
            <a:off x="5193792" y="4919472"/>
            <a:ext cx="1801368" cy="320040"/>
          </a:xfrm>
          <a:prstGeom prst="rect">
            <a:avLst/>
          </a:prstGeom>
          <a:noFill/>
        </p:spPr>
        <p:txBody>
          <a:bodyPr wrap="square" lIns="0" rIns="0" tIns="0" bIns="0">
            <a:spAutoFit/>
          </a:bodyPr>
          <a:lstStyle/>
          <a:p>
            <a:pPr>
              <a:spcAft>
                <a:spcPts val="0"/>
              </a:spcAft>
              <a:defRPr sz="1500" b="0">
                <a:solidFill>
                  <a:srgbClr val="61736B"/>
                </a:solidFill>
                <a:latin typeface="Arial"/>
              </a:defRPr>
            </a:pPr>
            <a:r>
              <a:t>Build + backtest</a:t>
            </a:r>
          </a:p>
        </p:txBody>
      </p:sp>
      <p:sp>
        <p:nvSpPr>
          <p:cNvPr id="29" name="Rounded Rectangle 28"/>
          <p:cNvSpPr/>
          <p:nvPr/>
        </p:nvSpPr>
        <p:spPr>
          <a:xfrm>
            <a:off x="7324344" y="4325112"/>
            <a:ext cx="2075688" cy="1069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1504" y="4517136"/>
            <a:ext cx="1801368" cy="265176"/>
          </a:xfrm>
          <a:prstGeom prst="rect">
            <a:avLst/>
          </a:prstGeom>
          <a:noFill/>
        </p:spPr>
        <p:txBody>
          <a:bodyPr wrap="square" lIns="0" rIns="0" tIns="0" bIns="0">
            <a:spAutoFit/>
          </a:bodyPr>
          <a:lstStyle/>
          <a:p>
            <a:pPr>
              <a:spcAft>
                <a:spcPts val="0"/>
              </a:spcAft>
              <a:defRPr sz="1400" b="1">
                <a:solidFill>
                  <a:srgbClr val="42694F"/>
                </a:solidFill>
                <a:latin typeface="Arial"/>
              </a:defRPr>
            </a:pPr>
            <a:r>
              <a:t>RISK</a:t>
            </a:r>
          </a:p>
        </p:txBody>
      </p:sp>
      <p:sp>
        <p:nvSpPr>
          <p:cNvPr id="31" name="TextBox 30"/>
          <p:cNvSpPr txBox="1"/>
          <p:nvPr/>
        </p:nvSpPr>
        <p:spPr>
          <a:xfrm>
            <a:off x="7461504" y="4919472"/>
            <a:ext cx="1801368" cy="320040"/>
          </a:xfrm>
          <a:prstGeom prst="rect">
            <a:avLst/>
          </a:prstGeom>
          <a:noFill/>
        </p:spPr>
        <p:txBody>
          <a:bodyPr wrap="square" lIns="0" rIns="0" tIns="0" bIns="0">
            <a:spAutoFit/>
          </a:bodyPr>
          <a:lstStyle/>
          <a:p>
            <a:pPr>
              <a:spcAft>
                <a:spcPts val="0"/>
              </a:spcAft>
              <a:defRPr sz="1500" b="0">
                <a:solidFill>
                  <a:srgbClr val="61736B"/>
                </a:solidFill>
                <a:latin typeface="Arial"/>
              </a:defRPr>
            </a:pPr>
            <a:r>
              <a:t>Measure + monitor</a:t>
            </a:r>
          </a:p>
        </p:txBody>
      </p:sp>
      <p:sp>
        <p:nvSpPr>
          <p:cNvPr id="32" name="Rounded Rectangle 31"/>
          <p:cNvSpPr/>
          <p:nvPr/>
        </p:nvSpPr>
        <p:spPr>
          <a:xfrm>
            <a:off x="9592056" y="4325112"/>
            <a:ext cx="2075688" cy="1069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29216" y="4517136"/>
            <a:ext cx="1801368" cy="265176"/>
          </a:xfrm>
          <a:prstGeom prst="rect">
            <a:avLst/>
          </a:prstGeom>
          <a:noFill/>
        </p:spPr>
        <p:txBody>
          <a:bodyPr wrap="square" lIns="0" rIns="0" tIns="0" bIns="0">
            <a:spAutoFit/>
          </a:bodyPr>
          <a:lstStyle/>
          <a:p>
            <a:pPr>
              <a:spcAft>
                <a:spcPts val="0"/>
              </a:spcAft>
              <a:defRPr sz="1400" b="1">
                <a:solidFill>
                  <a:srgbClr val="42694F"/>
                </a:solidFill>
                <a:latin typeface="Arial"/>
              </a:defRPr>
            </a:pPr>
            <a:r>
              <a:t>IMPLEMENTATION</a:t>
            </a:r>
          </a:p>
        </p:txBody>
      </p:sp>
      <p:sp>
        <p:nvSpPr>
          <p:cNvPr id="34" name="TextBox 33"/>
          <p:cNvSpPr txBox="1"/>
          <p:nvPr/>
        </p:nvSpPr>
        <p:spPr>
          <a:xfrm>
            <a:off x="9729216" y="4919472"/>
            <a:ext cx="1801368" cy="320040"/>
          </a:xfrm>
          <a:prstGeom prst="rect">
            <a:avLst/>
          </a:prstGeom>
          <a:noFill/>
        </p:spPr>
        <p:txBody>
          <a:bodyPr wrap="square" lIns="0" rIns="0" tIns="0" bIns="0">
            <a:spAutoFit/>
          </a:bodyPr>
          <a:lstStyle/>
          <a:p>
            <a:pPr>
              <a:spcAft>
                <a:spcPts val="0"/>
              </a:spcAft>
              <a:defRPr sz="1500" b="0">
                <a:solidFill>
                  <a:srgbClr val="61736B"/>
                </a:solidFill>
                <a:latin typeface="Arial"/>
              </a:defRPr>
            </a:pPr>
            <a:r>
              <a:t>Plan + reconcile</a:t>
            </a:r>
          </a:p>
        </p:txBody>
      </p:sp>
      <p:cxnSp>
        <p:nvCxnSpPr>
          <p:cNvPr id="35" name="Connector 34"/>
          <p:cNvCxnSpPr/>
          <p:nvPr/>
        </p:nvCxnSpPr>
        <p:spPr>
          <a:xfrm>
            <a:off x="4206240" y="3630168"/>
            <a:ext cx="0" cy="36576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554480" y="3995928"/>
            <a:ext cx="9070848"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554480" y="3995928"/>
            <a:ext cx="0" cy="329184"/>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822191" y="3995928"/>
            <a:ext cx="0" cy="329184"/>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89904" y="3995928"/>
            <a:ext cx="0" cy="329184"/>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57615" y="3995928"/>
            <a:ext cx="0" cy="329184"/>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625328" y="3995928"/>
            <a:ext cx="0" cy="329184"/>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Firm loop: Frame → Observe → Assign → Produce + challenge → Decide → Act → Review + learn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Many workers can share one persona</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Example: collect oil-demand evidence country by country, then review it before synthesis.</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08</a:t>
            </a:r>
          </a:p>
        </p:txBody>
      </p:sp>
      <p:sp>
        <p:nvSpPr>
          <p:cNvPr id="8" name="Rounded Rectangle 7"/>
          <p:cNvSpPr/>
          <p:nvPr/>
        </p:nvSpPr>
        <p:spPr>
          <a:xfrm>
            <a:off x="521207" y="1865376"/>
            <a:ext cx="2468880" cy="146304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7" y="1865376"/>
            <a:ext cx="50292" cy="1463040"/>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029968"/>
            <a:ext cx="206654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Data lead</a:t>
            </a:r>
          </a:p>
        </p:txBody>
      </p:sp>
      <p:sp>
        <p:nvSpPr>
          <p:cNvPr id="11" name="TextBox 10"/>
          <p:cNvSpPr txBox="1"/>
          <p:nvPr/>
        </p:nvSpPr>
        <p:spPr>
          <a:xfrm>
            <a:off x="722375" y="2642616"/>
            <a:ext cx="2066544" cy="548640"/>
          </a:xfrm>
          <a:prstGeom prst="rect">
            <a:avLst/>
          </a:prstGeom>
          <a:noFill/>
        </p:spPr>
        <p:txBody>
          <a:bodyPr wrap="square" lIns="0" rIns="0" tIns="0" bIns="0">
            <a:spAutoFit/>
          </a:bodyPr>
          <a:lstStyle/>
          <a:p>
            <a:pPr>
              <a:spcAft>
                <a:spcPts val="0"/>
              </a:spcAft>
              <a:defRPr sz="1600" b="0">
                <a:solidFill>
                  <a:srgbClr val="61736B"/>
                </a:solidFill>
                <a:latin typeface="Arial"/>
              </a:defRPr>
            </a:pPr>
            <a:r>
              <a:t>Scope, definitions, deadline</a:t>
            </a:r>
          </a:p>
        </p:txBody>
      </p:sp>
      <p:sp>
        <p:nvSpPr>
          <p:cNvPr id="12" name="Rounded Rectangle 11"/>
          <p:cNvSpPr/>
          <p:nvPr/>
        </p:nvSpPr>
        <p:spPr>
          <a:xfrm>
            <a:off x="3474720" y="1828800"/>
            <a:ext cx="2011680" cy="978408"/>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965960"/>
            <a:ext cx="1664208" cy="330200"/>
          </a:xfrm>
          <a:prstGeom prst="rect">
            <a:avLst/>
          </a:prstGeom>
          <a:noFill/>
        </p:spPr>
        <p:txBody>
          <a:bodyPr wrap="square" lIns="0" rIns="0" tIns="0" bIns="0">
            <a:spAutoFit/>
          </a:bodyPr>
          <a:lstStyle/>
          <a:p>
            <a:pPr>
              <a:spcAft>
                <a:spcPts val="0"/>
              </a:spcAft>
              <a:defRPr sz="2000" b="1">
                <a:solidFill>
                  <a:srgbClr val="1D302B"/>
                </a:solidFill>
                <a:latin typeface="Arial"/>
              </a:defRPr>
            </a:pPr>
            <a:r>
              <a:t>Worker 1</a:t>
            </a:r>
          </a:p>
        </p:txBody>
      </p:sp>
      <p:sp>
        <p:nvSpPr>
          <p:cNvPr id="14" name="TextBox 13"/>
          <p:cNvSpPr txBox="1"/>
          <p:nvPr/>
        </p:nvSpPr>
        <p:spPr>
          <a:xfrm>
            <a:off x="3657600" y="2395728"/>
            <a:ext cx="1664208"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Country A</a:t>
            </a:r>
          </a:p>
        </p:txBody>
      </p:sp>
      <p:sp>
        <p:nvSpPr>
          <p:cNvPr id="15" name="Rounded Rectangle 14"/>
          <p:cNvSpPr/>
          <p:nvPr/>
        </p:nvSpPr>
        <p:spPr>
          <a:xfrm>
            <a:off x="3474720" y="3081528"/>
            <a:ext cx="2011680" cy="978408"/>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3218688"/>
            <a:ext cx="1664208" cy="330200"/>
          </a:xfrm>
          <a:prstGeom prst="rect">
            <a:avLst/>
          </a:prstGeom>
          <a:noFill/>
        </p:spPr>
        <p:txBody>
          <a:bodyPr wrap="square" lIns="0" rIns="0" tIns="0" bIns="0">
            <a:spAutoFit/>
          </a:bodyPr>
          <a:lstStyle/>
          <a:p>
            <a:pPr>
              <a:spcAft>
                <a:spcPts val="0"/>
              </a:spcAft>
              <a:defRPr sz="2000" b="1">
                <a:solidFill>
                  <a:srgbClr val="1D302B"/>
                </a:solidFill>
                <a:latin typeface="Arial"/>
              </a:defRPr>
            </a:pPr>
            <a:r>
              <a:t>Worker 2</a:t>
            </a:r>
          </a:p>
        </p:txBody>
      </p:sp>
      <p:sp>
        <p:nvSpPr>
          <p:cNvPr id="17" name="TextBox 16"/>
          <p:cNvSpPr txBox="1"/>
          <p:nvPr/>
        </p:nvSpPr>
        <p:spPr>
          <a:xfrm>
            <a:off x="3657600" y="3648456"/>
            <a:ext cx="1664208"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Country B</a:t>
            </a:r>
          </a:p>
        </p:txBody>
      </p:sp>
      <p:sp>
        <p:nvSpPr>
          <p:cNvPr id="18" name="Rounded Rectangle 17"/>
          <p:cNvSpPr/>
          <p:nvPr/>
        </p:nvSpPr>
        <p:spPr>
          <a:xfrm>
            <a:off x="3474720" y="4334256"/>
            <a:ext cx="2011680" cy="978408"/>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4471416"/>
            <a:ext cx="1664208" cy="330200"/>
          </a:xfrm>
          <a:prstGeom prst="rect">
            <a:avLst/>
          </a:prstGeom>
          <a:noFill/>
        </p:spPr>
        <p:txBody>
          <a:bodyPr wrap="square" lIns="0" rIns="0" tIns="0" bIns="0">
            <a:spAutoFit/>
          </a:bodyPr>
          <a:lstStyle/>
          <a:p>
            <a:pPr>
              <a:spcAft>
                <a:spcPts val="0"/>
              </a:spcAft>
              <a:defRPr sz="2000" b="1">
                <a:solidFill>
                  <a:srgbClr val="1D302B"/>
                </a:solidFill>
                <a:latin typeface="Arial"/>
              </a:defRPr>
            </a:pPr>
            <a:r>
              <a:t>Worker N</a:t>
            </a:r>
          </a:p>
        </p:txBody>
      </p:sp>
      <p:sp>
        <p:nvSpPr>
          <p:cNvPr id="20" name="TextBox 19"/>
          <p:cNvSpPr txBox="1"/>
          <p:nvPr/>
        </p:nvSpPr>
        <p:spPr>
          <a:xfrm>
            <a:off x="3657600" y="4901184"/>
            <a:ext cx="1664208"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Country N</a:t>
            </a:r>
          </a:p>
        </p:txBody>
      </p:sp>
      <p:cxnSp>
        <p:nvCxnSpPr>
          <p:cNvPr id="21" name="Connector 20"/>
          <p:cNvCxnSpPr/>
          <p:nvPr/>
        </p:nvCxnSpPr>
        <p:spPr>
          <a:xfrm>
            <a:off x="2990088" y="2532888"/>
            <a:ext cx="201168"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91256" y="2313432"/>
            <a:ext cx="0" cy="2505456"/>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91256" y="2313432"/>
            <a:ext cx="283464"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191256" y="3566160"/>
            <a:ext cx="283464"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191256" y="4818888"/>
            <a:ext cx="283464"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025896" y="1865376"/>
            <a:ext cx="2359152" cy="351129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2048256"/>
            <a:ext cx="1965960" cy="822960"/>
          </a:xfrm>
          <a:prstGeom prst="rect">
            <a:avLst/>
          </a:prstGeom>
          <a:noFill/>
        </p:spPr>
        <p:txBody>
          <a:bodyPr wrap="square" lIns="0" rIns="0" tIns="0" bIns="0">
            <a:spAutoFit/>
          </a:bodyPr>
          <a:lstStyle/>
          <a:p>
            <a:pPr>
              <a:spcAft>
                <a:spcPts val="300"/>
              </a:spcAft>
              <a:defRPr sz="2200" b="1">
                <a:solidFill>
                  <a:srgbClr val="1D302B"/>
                </a:solidFill>
                <a:latin typeface="Arial"/>
              </a:defRPr>
            </a:pPr>
            <a:r>
              <a:t>Independent</a:t>
            </a:r>
          </a:p>
          <a:p>
            <a:pPr>
              <a:spcAft>
                <a:spcPts val="300"/>
              </a:spcAft>
              <a:defRPr sz="2200" b="1">
                <a:solidFill>
                  <a:srgbClr val="1D302B"/>
                </a:solidFill>
                <a:latin typeface="Arial"/>
              </a:defRPr>
            </a:pPr>
            <a:r>
              <a:t>review</a:t>
            </a:r>
          </a:p>
        </p:txBody>
      </p:sp>
      <p:sp>
        <p:nvSpPr>
          <p:cNvPr id="28" name="TextBox 27"/>
          <p:cNvSpPr txBox="1"/>
          <p:nvPr/>
        </p:nvSpPr>
        <p:spPr>
          <a:xfrm>
            <a:off x="6227064" y="2953512"/>
            <a:ext cx="1965960" cy="2139696"/>
          </a:xfrm>
          <a:prstGeom prst="rect">
            <a:avLst/>
          </a:prstGeom>
          <a:noFill/>
        </p:spPr>
        <p:txBody>
          <a:bodyPr wrap="square" lIns="0" rIns="0" tIns="0" bIns="0">
            <a:spAutoFit/>
          </a:bodyPr>
          <a:lstStyle/>
          <a:p>
            <a:pPr>
              <a:spcAft>
                <a:spcPts val="300"/>
              </a:spcAft>
              <a:defRPr sz="1800" b="0">
                <a:solidFill>
                  <a:srgbClr val="61736B"/>
                </a:solidFill>
                <a:latin typeface="Arial"/>
              </a:defRPr>
            </a:pPr>
            <a:r>
              <a:t>Check sources</a:t>
            </a:r>
          </a:p>
          <a:p>
            <a:pPr>
              <a:spcAft>
                <a:spcPts val="300"/>
              </a:spcAft>
              <a:defRPr sz="1800" b="0">
                <a:solidFill>
                  <a:srgbClr val="61736B"/>
                </a:solidFill>
                <a:latin typeface="Arial"/>
              </a:defRPr>
            </a:pPr>
            <a:r>
              <a:t>Check definitions</a:t>
            </a:r>
          </a:p>
          <a:p>
            <a:pPr>
              <a:spcAft>
                <a:spcPts val="300"/>
              </a:spcAft>
              <a:defRPr sz="1800" b="0">
                <a:solidFill>
                  <a:srgbClr val="61736B"/>
                </a:solidFill>
                <a:latin typeface="Arial"/>
              </a:defRPr>
            </a:pPr>
            <a:r>
              <a:t>Accept or rework</a:t>
            </a:r>
          </a:p>
          <a:p>
            <a:pPr>
              <a:spcAft>
                <a:spcPts val="300"/>
              </a:spcAft>
              <a:defRPr sz="1800" b="0">
                <a:solidFill>
                  <a:srgbClr val="61736B"/>
                </a:solidFill>
                <a:latin typeface="Arial"/>
              </a:defRPr>
            </a:pPr>
            <a:r>
              <a:t>Keep missing coverage visible</a:t>
            </a:r>
          </a:p>
        </p:txBody>
      </p:sp>
      <p:sp>
        <p:nvSpPr>
          <p:cNvPr id="29" name="Chevron 28"/>
          <p:cNvSpPr/>
          <p:nvPr/>
        </p:nvSpPr>
        <p:spPr>
          <a:xfrm>
            <a:off x="5605272" y="2221992"/>
            <a:ext cx="274320" cy="201168"/>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evron 29"/>
          <p:cNvSpPr/>
          <p:nvPr/>
        </p:nvSpPr>
        <p:spPr>
          <a:xfrm>
            <a:off x="5605272" y="3474720"/>
            <a:ext cx="274320" cy="201168"/>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5605272" y="4727448"/>
            <a:ext cx="274320" cy="201168"/>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887968" y="1865376"/>
            <a:ext cx="2788920" cy="140817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87968" y="1865376"/>
            <a:ext cx="50292" cy="1408176"/>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89136" y="2029968"/>
            <a:ext cx="238658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Data engineer</a:t>
            </a:r>
          </a:p>
        </p:txBody>
      </p:sp>
      <p:sp>
        <p:nvSpPr>
          <p:cNvPr id="35" name="TextBox 34"/>
          <p:cNvSpPr txBox="1"/>
          <p:nvPr/>
        </p:nvSpPr>
        <p:spPr>
          <a:xfrm>
            <a:off x="9089136" y="2642616"/>
            <a:ext cx="2386584" cy="493776"/>
          </a:xfrm>
          <a:prstGeom prst="rect">
            <a:avLst/>
          </a:prstGeom>
          <a:noFill/>
        </p:spPr>
        <p:txBody>
          <a:bodyPr wrap="square" lIns="0" rIns="0" tIns="0" bIns="0">
            <a:spAutoFit/>
          </a:bodyPr>
          <a:lstStyle/>
          <a:p>
            <a:pPr>
              <a:spcAft>
                <a:spcPts val="0"/>
              </a:spcAft>
              <a:defRPr sz="1600" b="0">
                <a:solidFill>
                  <a:srgbClr val="61736B"/>
                </a:solidFill>
                <a:latin typeface="Arial"/>
              </a:defRPr>
            </a:pPr>
            <a:r>
              <a:t>Combine results; check total coverage.</a:t>
            </a:r>
          </a:p>
        </p:txBody>
      </p:sp>
      <p:sp>
        <p:nvSpPr>
          <p:cNvPr id="36" name="Rounded Rectangle 35"/>
          <p:cNvSpPr/>
          <p:nvPr/>
        </p:nvSpPr>
        <p:spPr>
          <a:xfrm>
            <a:off x="8887968" y="3502152"/>
            <a:ext cx="2788920" cy="91440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87968" y="3502152"/>
            <a:ext cx="50292" cy="914400"/>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89136" y="3666744"/>
            <a:ext cx="238658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Analyst → PM</a:t>
            </a:r>
          </a:p>
        </p:txBody>
      </p:sp>
      <p:sp>
        <p:nvSpPr>
          <p:cNvPr id="39" name="TextBox 38"/>
          <p:cNvSpPr txBox="1"/>
          <p:nvPr/>
        </p:nvSpPr>
        <p:spPr>
          <a:xfrm>
            <a:off x="9089136" y="4279392"/>
            <a:ext cx="2386584" cy="264160"/>
          </a:xfrm>
          <a:prstGeom prst="rect">
            <a:avLst/>
          </a:prstGeom>
          <a:noFill/>
        </p:spPr>
        <p:txBody>
          <a:bodyPr wrap="square" lIns="0" rIns="0" tIns="0" bIns="0">
            <a:spAutoFit/>
          </a:bodyPr>
          <a:lstStyle/>
          <a:p>
            <a:pPr>
              <a:spcAft>
                <a:spcPts val="0"/>
              </a:spcAft>
              <a:defRPr sz="640" b="0">
                <a:solidFill>
                  <a:srgbClr val="61736B"/>
                </a:solidFill>
                <a:latin typeface="Arial"/>
              </a:defRPr>
            </a:pPr>
          </a:p>
        </p:txBody>
      </p:sp>
      <p:sp>
        <p:nvSpPr>
          <p:cNvPr id="40" name="TextBox 39"/>
          <p:cNvSpPr txBox="1"/>
          <p:nvPr/>
        </p:nvSpPr>
        <p:spPr>
          <a:xfrm>
            <a:off x="9089136" y="4626864"/>
            <a:ext cx="2395728" cy="713232"/>
          </a:xfrm>
          <a:prstGeom prst="rect">
            <a:avLst/>
          </a:prstGeom>
          <a:noFill/>
        </p:spPr>
        <p:txBody>
          <a:bodyPr wrap="square" lIns="0" rIns="0" tIns="0" bIns="0">
            <a:spAutoFit/>
          </a:bodyPr>
          <a:lstStyle/>
          <a:p>
            <a:pPr>
              <a:spcAft>
                <a:spcPts val="0"/>
              </a:spcAft>
              <a:defRPr sz="1800" b="1">
                <a:solidFill>
                  <a:srgbClr val="42694F"/>
                </a:solidFill>
                <a:latin typeface="Arial"/>
              </a:defRPr>
            </a:pPr>
            <a:r>
              <a:t>Research brief and portfolio decision</a:t>
            </a:r>
          </a:p>
        </p:txBody>
      </p:sp>
      <p:sp>
        <p:nvSpPr>
          <p:cNvPr id="41" name="Chevron 40"/>
          <p:cNvSpPr/>
          <p:nvPr/>
        </p:nvSpPr>
        <p:spPr>
          <a:xfrm>
            <a:off x="8485632" y="2743200"/>
            <a:ext cx="274320" cy="201168"/>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One researcher persona; many task scopes and execution IDs. Every returned result still needs a judgment.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Skills are procedures for finishing real jobs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The persona owns responsibilities. A skill supplies the inputs, steps, checks, and expected output.</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09</a:t>
            </a:r>
          </a:p>
        </p:txBody>
      </p:sp>
      <p:sp>
        <p:nvSpPr>
          <p:cNvPr id="8" name="Rounded Rectangle 7"/>
          <p:cNvSpPr/>
          <p:nvPr/>
        </p:nvSpPr>
        <p:spPr>
          <a:xfrm>
            <a:off x="521207" y="1819656"/>
            <a:ext cx="11155680" cy="46634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47672"/>
            <a:ext cx="2258568" cy="264160"/>
          </a:xfrm>
          <a:prstGeom prst="rect">
            <a:avLst/>
          </a:prstGeom>
          <a:noFill/>
        </p:spPr>
        <p:txBody>
          <a:bodyPr wrap="square" lIns="0" rIns="0" tIns="0" bIns="0">
            <a:spAutoFit/>
          </a:bodyPr>
          <a:lstStyle/>
          <a:p>
            <a:pPr>
              <a:spcAft>
                <a:spcPts val="0"/>
              </a:spcAft>
              <a:defRPr sz="1600" b="1">
                <a:solidFill>
                  <a:srgbClr val="1D302B"/>
                </a:solidFill>
                <a:latin typeface="Arial"/>
              </a:defRPr>
            </a:pPr>
            <a:r>
              <a:t>Development</a:t>
            </a:r>
          </a:p>
        </p:txBody>
      </p:sp>
      <p:sp>
        <p:nvSpPr>
          <p:cNvPr id="10" name="TextBox 9"/>
          <p:cNvSpPr txBox="1"/>
          <p:nvPr/>
        </p:nvSpPr>
        <p:spPr>
          <a:xfrm>
            <a:off x="2999232" y="1947672"/>
            <a:ext cx="8412480"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Change a repo • fix a bug • edit a website • deploy and roll back</a:t>
            </a:r>
          </a:p>
        </p:txBody>
      </p:sp>
      <p:sp>
        <p:nvSpPr>
          <p:cNvPr id="11" name="Rounded Rectangle 10"/>
          <p:cNvSpPr/>
          <p:nvPr/>
        </p:nvSpPr>
        <p:spPr>
          <a:xfrm>
            <a:off x="521207" y="2377440"/>
            <a:ext cx="11155680" cy="466344"/>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2505456"/>
            <a:ext cx="2258568" cy="264160"/>
          </a:xfrm>
          <a:prstGeom prst="rect">
            <a:avLst/>
          </a:prstGeom>
          <a:noFill/>
        </p:spPr>
        <p:txBody>
          <a:bodyPr wrap="square" lIns="0" rIns="0" tIns="0" bIns="0">
            <a:spAutoFit/>
          </a:bodyPr>
          <a:lstStyle/>
          <a:p>
            <a:pPr>
              <a:spcAft>
                <a:spcPts val="0"/>
              </a:spcAft>
              <a:defRPr sz="1600" b="1">
                <a:solidFill>
                  <a:srgbClr val="1D302B"/>
                </a:solidFill>
                <a:latin typeface="Arial"/>
              </a:defRPr>
            </a:pPr>
            <a:r>
              <a:t>Data engineering</a:t>
            </a:r>
          </a:p>
        </p:txBody>
      </p:sp>
      <p:sp>
        <p:nvSpPr>
          <p:cNvPr id="13" name="TextBox 12"/>
          <p:cNvSpPr txBox="1"/>
          <p:nvPr/>
        </p:nvSpPr>
        <p:spPr>
          <a:xfrm>
            <a:off x="2999232" y="2505456"/>
            <a:ext cx="8412480"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Pull vendor data • align units and dates • publish and refresh</a:t>
            </a:r>
          </a:p>
        </p:txBody>
      </p:sp>
      <p:sp>
        <p:nvSpPr>
          <p:cNvPr id="14" name="Rounded Rectangle 13"/>
          <p:cNvSpPr/>
          <p:nvPr/>
        </p:nvSpPr>
        <p:spPr>
          <a:xfrm>
            <a:off x="521207" y="2935224"/>
            <a:ext cx="11155680" cy="46634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3063240"/>
            <a:ext cx="2258568" cy="264160"/>
          </a:xfrm>
          <a:prstGeom prst="rect">
            <a:avLst/>
          </a:prstGeom>
          <a:noFill/>
        </p:spPr>
        <p:txBody>
          <a:bodyPr wrap="square" lIns="0" rIns="0" tIns="0" bIns="0">
            <a:spAutoFit/>
          </a:bodyPr>
          <a:lstStyle/>
          <a:p>
            <a:pPr>
              <a:spcAft>
                <a:spcPts val="0"/>
              </a:spcAft>
              <a:defRPr sz="1600" b="1">
                <a:solidFill>
                  <a:srgbClr val="1D302B"/>
                </a:solidFill>
                <a:latin typeface="Arial"/>
              </a:defRPr>
            </a:pPr>
            <a:r>
              <a:t>Research + quant</a:t>
            </a:r>
          </a:p>
        </p:txBody>
      </p:sp>
      <p:sp>
        <p:nvSpPr>
          <p:cNvPr id="16" name="TextBox 15"/>
          <p:cNvSpPr txBox="1"/>
          <p:nvPr/>
        </p:nvSpPr>
        <p:spPr>
          <a:xfrm>
            <a:off x="2999232" y="3063240"/>
            <a:ext cx="8412480"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Write a brief • build a calculation • verify and backtest a signal</a:t>
            </a:r>
          </a:p>
        </p:txBody>
      </p:sp>
      <p:sp>
        <p:nvSpPr>
          <p:cNvPr id="17" name="Rounded Rectangle 16"/>
          <p:cNvSpPr/>
          <p:nvPr/>
        </p:nvSpPr>
        <p:spPr>
          <a:xfrm>
            <a:off x="521207" y="3493008"/>
            <a:ext cx="11155680" cy="466344"/>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3621024"/>
            <a:ext cx="2258568" cy="264160"/>
          </a:xfrm>
          <a:prstGeom prst="rect">
            <a:avLst/>
          </a:prstGeom>
          <a:noFill/>
        </p:spPr>
        <p:txBody>
          <a:bodyPr wrap="square" lIns="0" rIns="0" tIns="0" bIns="0">
            <a:spAutoFit/>
          </a:bodyPr>
          <a:lstStyle/>
          <a:p>
            <a:pPr>
              <a:spcAft>
                <a:spcPts val="0"/>
              </a:spcAft>
              <a:defRPr sz="1600" b="1">
                <a:solidFill>
                  <a:srgbClr val="1D302B"/>
                </a:solidFill>
                <a:latin typeface="Arial"/>
              </a:defRPr>
            </a:pPr>
            <a:r>
              <a:t>Risk + implementation</a:t>
            </a:r>
          </a:p>
        </p:txBody>
      </p:sp>
      <p:sp>
        <p:nvSpPr>
          <p:cNvPr id="19" name="TextBox 18"/>
          <p:cNvSpPr txBox="1"/>
          <p:nvPr/>
        </p:nvSpPr>
        <p:spPr>
          <a:xfrm>
            <a:off x="2999232" y="3621024"/>
            <a:ext cx="8412480"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Reconcile records • calculate scenarios • check expiries • plan execution</a:t>
            </a:r>
          </a:p>
        </p:txBody>
      </p:sp>
      <p:sp>
        <p:nvSpPr>
          <p:cNvPr id="20" name="Rounded Rectangle 19"/>
          <p:cNvSpPr/>
          <p:nvPr/>
        </p:nvSpPr>
        <p:spPr>
          <a:xfrm>
            <a:off x="521207" y="4050791"/>
            <a:ext cx="11155680" cy="46634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4178807"/>
            <a:ext cx="2258568" cy="264160"/>
          </a:xfrm>
          <a:prstGeom prst="rect">
            <a:avLst/>
          </a:prstGeom>
          <a:noFill/>
        </p:spPr>
        <p:txBody>
          <a:bodyPr wrap="square" lIns="0" rIns="0" tIns="0" bIns="0">
            <a:spAutoFit/>
          </a:bodyPr>
          <a:lstStyle/>
          <a:p>
            <a:pPr>
              <a:spcAft>
                <a:spcPts val="0"/>
              </a:spcAft>
              <a:defRPr sz="1600" b="1">
                <a:solidFill>
                  <a:srgbClr val="1D302B"/>
                </a:solidFill>
                <a:latin typeface="Arial"/>
              </a:defRPr>
            </a:pPr>
            <a:r>
              <a:t>PM / CIO / CRO</a:t>
            </a:r>
          </a:p>
        </p:txBody>
      </p:sp>
      <p:sp>
        <p:nvSpPr>
          <p:cNvPr id="22" name="TextBox 21"/>
          <p:cNvSpPr txBox="1"/>
          <p:nvPr/>
        </p:nvSpPr>
        <p:spPr>
          <a:xfrm>
            <a:off x="2999232" y="4178807"/>
            <a:ext cx="8412480"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Assign work • review evidence • compare proposals • record decisions</a:t>
            </a:r>
          </a:p>
        </p:txBody>
      </p:sp>
      <p:sp>
        <p:nvSpPr>
          <p:cNvPr id="23" name="Rounded Rectangle 22"/>
          <p:cNvSpPr/>
          <p:nvPr/>
        </p:nvSpPr>
        <p:spPr>
          <a:xfrm>
            <a:off x="521207" y="4608576"/>
            <a:ext cx="11155680" cy="466344"/>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736592"/>
            <a:ext cx="2258568" cy="264160"/>
          </a:xfrm>
          <a:prstGeom prst="rect">
            <a:avLst/>
          </a:prstGeom>
          <a:noFill/>
        </p:spPr>
        <p:txBody>
          <a:bodyPr wrap="square" lIns="0" rIns="0" tIns="0" bIns="0">
            <a:spAutoFit/>
          </a:bodyPr>
          <a:lstStyle/>
          <a:p>
            <a:pPr>
              <a:spcAft>
                <a:spcPts val="0"/>
              </a:spcAft>
              <a:defRPr sz="1600" b="1">
                <a:solidFill>
                  <a:srgbClr val="1D302B"/>
                </a:solidFill>
                <a:latin typeface="Arial"/>
              </a:defRPr>
            </a:pPr>
            <a:r>
              <a:t>Client service</a:t>
            </a:r>
          </a:p>
        </p:txBody>
      </p:sp>
      <p:sp>
        <p:nvSpPr>
          <p:cNvPr id="25" name="TextBox 24"/>
          <p:cNvSpPr txBox="1"/>
          <p:nvPr/>
        </p:nvSpPr>
        <p:spPr>
          <a:xfrm>
            <a:off x="2999232" y="4736592"/>
            <a:ext cx="8412480" cy="264160"/>
          </a:xfrm>
          <a:prstGeom prst="rect">
            <a:avLst/>
          </a:prstGeom>
          <a:noFill/>
        </p:spPr>
        <p:txBody>
          <a:bodyPr wrap="square" lIns="0" rIns="0" tIns="0" bIns="0">
            <a:spAutoFit/>
          </a:bodyPr>
          <a:lstStyle/>
          <a:p>
            <a:pPr>
              <a:spcAft>
                <a:spcPts val="0"/>
              </a:spcAft>
              <a:defRPr sz="1600" b="0">
                <a:solidFill>
                  <a:srgbClr val="61736B"/>
                </a:solidFill>
                <a:latin typeface="Arial"/>
              </a:defRPr>
            </a:pPr>
            <a:r>
              <a:t>Read client context • explain approved findings • prepare reports</a:t>
            </a:r>
          </a:p>
        </p:txBody>
      </p:sp>
      <p:sp>
        <p:nvSpPr>
          <p:cNvPr id="26" name="Rounded Rectangle 25"/>
          <p:cNvSpPr/>
          <p:nvPr/>
        </p:nvSpPr>
        <p:spPr>
          <a:xfrm>
            <a:off x="521207" y="5422392"/>
            <a:ext cx="11155680" cy="621792"/>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605272"/>
            <a:ext cx="10698480" cy="330200"/>
          </a:xfrm>
          <a:prstGeom prst="rect">
            <a:avLst/>
          </a:prstGeom>
          <a:noFill/>
        </p:spPr>
        <p:txBody>
          <a:bodyPr wrap="square" lIns="0" rIns="0" tIns="0" bIns="0">
            <a:spAutoFit/>
          </a:bodyPr>
          <a:lstStyle/>
          <a:p>
            <a:pPr>
              <a:spcAft>
                <a:spcPts val="0"/>
              </a:spcAft>
              <a:defRPr sz="2000" b="1">
                <a:solidFill>
                  <a:srgbClr val="FFFFFF"/>
                </a:solidFill>
                <a:latin typeface="Arial"/>
              </a:defRPr>
            </a:pPr>
            <a:r>
              <a:t>35 library entries  =  23 procedure drafts  +  6 starter files  +  6 named placeholders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Rose and vendor access need explicit procedures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Use a shared data workflow, with the connection details for the particular vendor loaded when needed.</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10</a:t>
            </a:r>
          </a:p>
        </p:txBody>
      </p:sp>
      <p:sp>
        <p:nvSpPr>
          <p:cNvPr id="8" name="Rounded Rectangle 7"/>
          <p:cNvSpPr/>
          <p:nvPr/>
        </p:nvSpPr>
        <p:spPr>
          <a:xfrm>
            <a:off x="521207" y="1828800"/>
            <a:ext cx="6492240" cy="3712463"/>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39112"/>
            <a:ext cx="6035040"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Seven Rose jobs</a:t>
            </a:r>
          </a:p>
        </p:txBody>
      </p:sp>
      <p:sp>
        <p:nvSpPr>
          <p:cNvPr id="10" name="TextBox 9"/>
          <p:cNvSpPr txBox="1"/>
          <p:nvPr/>
        </p:nvSpPr>
        <p:spPr>
          <a:xfrm>
            <a:off x="777240" y="2633472"/>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1</a:t>
            </a:r>
          </a:p>
        </p:txBody>
      </p:sp>
      <p:sp>
        <p:nvSpPr>
          <p:cNvPr id="11" name="TextBox 10"/>
          <p:cNvSpPr txBox="1"/>
          <p:nvPr/>
        </p:nvSpPr>
        <p:spPr>
          <a:xfrm>
            <a:off x="1179576" y="2633472"/>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Read an object</a:t>
            </a:r>
          </a:p>
        </p:txBody>
      </p:sp>
      <p:sp>
        <p:nvSpPr>
          <p:cNvPr id="12" name="TextBox 11"/>
          <p:cNvSpPr txBox="1"/>
          <p:nvPr/>
        </p:nvSpPr>
        <p:spPr>
          <a:xfrm>
            <a:off x="777240" y="2990088"/>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2</a:t>
            </a:r>
          </a:p>
        </p:txBody>
      </p:sp>
      <p:sp>
        <p:nvSpPr>
          <p:cNvPr id="13" name="TextBox 12"/>
          <p:cNvSpPr txBox="1"/>
          <p:nvPr/>
        </p:nvSpPr>
        <p:spPr>
          <a:xfrm>
            <a:off x="1179576" y="2990088"/>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Follow a map</a:t>
            </a:r>
          </a:p>
        </p:txBody>
      </p:sp>
      <p:sp>
        <p:nvSpPr>
          <p:cNvPr id="14" name="TextBox 13"/>
          <p:cNvSpPr txBox="1"/>
          <p:nvPr/>
        </p:nvSpPr>
        <p:spPr>
          <a:xfrm>
            <a:off x="777240" y="3346704"/>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3</a:t>
            </a:r>
          </a:p>
        </p:txBody>
      </p:sp>
      <p:sp>
        <p:nvSpPr>
          <p:cNvPr id="15" name="TextBox 14"/>
          <p:cNvSpPr txBox="1"/>
          <p:nvPr/>
        </p:nvSpPr>
        <p:spPr>
          <a:xfrm>
            <a:off x="1179576" y="3346704"/>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Choose a code</a:t>
            </a:r>
          </a:p>
        </p:txBody>
      </p:sp>
      <p:sp>
        <p:nvSpPr>
          <p:cNvPr id="16" name="TextBox 15"/>
          <p:cNvSpPr txBox="1"/>
          <p:nvPr/>
        </p:nvSpPr>
        <p:spPr>
          <a:xfrm>
            <a:off x="777240" y="3703320"/>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4</a:t>
            </a:r>
          </a:p>
        </p:txBody>
      </p:sp>
      <p:sp>
        <p:nvSpPr>
          <p:cNvPr id="17" name="TextBox 16"/>
          <p:cNvSpPr txBox="1"/>
          <p:nvPr/>
        </p:nvSpPr>
        <p:spPr>
          <a:xfrm>
            <a:off x="1179576" y="3703320"/>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Upload a table</a:t>
            </a:r>
          </a:p>
        </p:txBody>
      </p:sp>
      <p:sp>
        <p:nvSpPr>
          <p:cNvPr id="18" name="TextBox 17"/>
          <p:cNvSpPr txBox="1"/>
          <p:nvPr/>
        </p:nvSpPr>
        <p:spPr>
          <a:xfrm>
            <a:off x="777240" y="4059935"/>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5</a:t>
            </a:r>
          </a:p>
        </p:txBody>
      </p:sp>
      <p:sp>
        <p:nvSpPr>
          <p:cNvPr id="19" name="TextBox 18"/>
          <p:cNvSpPr txBox="1"/>
          <p:nvPr/>
        </p:nvSpPr>
        <p:spPr>
          <a:xfrm>
            <a:off x="1179576" y="4059935"/>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Build a calculated series</a:t>
            </a:r>
          </a:p>
        </p:txBody>
      </p:sp>
      <p:sp>
        <p:nvSpPr>
          <p:cNvPr id="20" name="TextBox 19"/>
          <p:cNvSpPr txBox="1"/>
          <p:nvPr/>
        </p:nvSpPr>
        <p:spPr>
          <a:xfrm>
            <a:off x="777240" y="4416552"/>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6</a:t>
            </a:r>
          </a:p>
        </p:txBody>
      </p:sp>
      <p:sp>
        <p:nvSpPr>
          <p:cNvPr id="21" name="TextBox 20"/>
          <p:cNvSpPr txBox="1"/>
          <p:nvPr/>
        </p:nvSpPr>
        <p:spPr>
          <a:xfrm>
            <a:off x="1179576" y="4416552"/>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Refresh a dataset</a:t>
            </a:r>
          </a:p>
        </p:txBody>
      </p:sp>
      <p:sp>
        <p:nvSpPr>
          <p:cNvPr id="22" name="TextBox 21"/>
          <p:cNvSpPr txBox="1"/>
          <p:nvPr/>
        </p:nvSpPr>
        <p:spPr>
          <a:xfrm>
            <a:off x="777240" y="4773168"/>
            <a:ext cx="310896" cy="231140"/>
          </a:xfrm>
          <a:prstGeom prst="rect">
            <a:avLst/>
          </a:prstGeom>
          <a:noFill/>
        </p:spPr>
        <p:txBody>
          <a:bodyPr wrap="square" lIns="0" rIns="0" tIns="0" bIns="0">
            <a:spAutoFit/>
          </a:bodyPr>
          <a:lstStyle/>
          <a:p>
            <a:pPr>
              <a:spcAft>
                <a:spcPts val="0"/>
              </a:spcAft>
              <a:defRPr sz="1400" b="1">
                <a:solidFill>
                  <a:srgbClr val="42694F"/>
                </a:solidFill>
                <a:latin typeface="Arial"/>
              </a:defRPr>
            </a:pPr>
            <a:r>
              <a:t>7</a:t>
            </a:r>
          </a:p>
        </p:txBody>
      </p:sp>
      <p:sp>
        <p:nvSpPr>
          <p:cNvPr id="23" name="TextBox 22"/>
          <p:cNvSpPr txBox="1"/>
          <p:nvPr/>
        </p:nvSpPr>
        <p:spPr>
          <a:xfrm>
            <a:off x="1179576" y="4773168"/>
            <a:ext cx="5477256" cy="280670"/>
          </a:xfrm>
          <a:prstGeom prst="rect">
            <a:avLst/>
          </a:prstGeom>
          <a:noFill/>
        </p:spPr>
        <p:txBody>
          <a:bodyPr wrap="square" lIns="0" rIns="0" tIns="0" bIns="0">
            <a:spAutoFit/>
          </a:bodyPr>
          <a:lstStyle/>
          <a:p>
            <a:pPr>
              <a:spcAft>
                <a:spcPts val="0"/>
              </a:spcAft>
              <a:defRPr sz="1700" b="0">
                <a:solidFill>
                  <a:srgbClr val="1D302B"/>
                </a:solidFill>
                <a:latin typeface="Arial"/>
              </a:defRPr>
            </a:pPr>
            <a:r>
              <a:t>Make a notebook</a:t>
            </a:r>
          </a:p>
        </p:txBody>
      </p:sp>
      <p:sp>
        <p:nvSpPr>
          <p:cNvPr id="24" name="Rounded Rectangle 23"/>
          <p:cNvSpPr/>
          <p:nvPr/>
        </p:nvSpPr>
        <p:spPr>
          <a:xfrm>
            <a:off x="7342631" y="1828800"/>
            <a:ext cx="4334256" cy="3712463"/>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0375" y="2057400"/>
            <a:ext cx="3849624" cy="379730"/>
          </a:xfrm>
          <a:prstGeom prst="rect">
            <a:avLst/>
          </a:prstGeom>
          <a:noFill/>
        </p:spPr>
        <p:txBody>
          <a:bodyPr wrap="square" lIns="0" rIns="0" tIns="0" bIns="0">
            <a:spAutoFit/>
          </a:bodyPr>
          <a:lstStyle/>
          <a:p>
            <a:pPr>
              <a:spcAft>
                <a:spcPts val="0"/>
              </a:spcAft>
              <a:defRPr sz="2300" b="1">
                <a:solidFill>
                  <a:srgbClr val="FFFFFF"/>
                </a:solidFill>
                <a:latin typeface="Arial"/>
              </a:defRPr>
            </a:pPr>
            <a:r>
              <a:t>One recipe per provider</a:t>
            </a:r>
          </a:p>
        </p:txBody>
      </p:sp>
      <p:sp>
        <p:nvSpPr>
          <p:cNvPr id="26" name="TextBox 25"/>
          <p:cNvSpPr txBox="1"/>
          <p:nvPr/>
        </p:nvSpPr>
        <p:spPr>
          <a:xfrm>
            <a:off x="7580375" y="2724912"/>
            <a:ext cx="3813048" cy="1097280"/>
          </a:xfrm>
          <a:prstGeom prst="rect">
            <a:avLst/>
          </a:prstGeom>
          <a:noFill/>
        </p:spPr>
        <p:txBody>
          <a:bodyPr wrap="square" lIns="0" rIns="0" tIns="0" bIns="0">
            <a:spAutoFit/>
          </a:bodyPr>
          <a:lstStyle/>
          <a:p>
            <a:pPr>
              <a:spcAft>
                <a:spcPts val="300"/>
              </a:spcAft>
              <a:defRPr sz="1900" b="0">
                <a:solidFill>
                  <a:srgbClr val="E2EADF"/>
                </a:solidFill>
                <a:latin typeface="Arial"/>
              </a:defRPr>
            </a:pPr>
            <a:r>
              <a:t>Client / host + access</a:t>
            </a:r>
          </a:p>
          <a:p>
            <a:pPr>
              <a:spcAft>
                <a:spcPts val="300"/>
              </a:spcAft>
              <a:defRPr sz="1900" b="0">
                <a:solidFill>
                  <a:srgbClr val="E2EADF"/>
                </a:solidFill>
                <a:latin typeface="Arial"/>
              </a:defRPr>
            </a:pPr>
            <a:r>
              <a:t>Identifiers + definitions</a:t>
            </a:r>
          </a:p>
          <a:p>
            <a:pPr>
              <a:spcAft>
                <a:spcPts val="300"/>
              </a:spcAft>
              <a:defRPr sz="1900" b="0">
                <a:solidFill>
                  <a:srgbClr val="E2EADF"/>
                </a:solidFill>
                <a:latin typeface="Arial"/>
              </a:defRPr>
            </a:pPr>
            <a:r>
              <a:t>Dates + expected response</a:t>
            </a:r>
          </a:p>
        </p:txBody>
      </p:sp>
      <p:sp>
        <p:nvSpPr>
          <p:cNvPr id="27" name="TextBox 26"/>
          <p:cNvSpPr txBox="1"/>
          <p:nvPr/>
        </p:nvSpPr>
        <p:spPr>
          <a:xfrm>
            <a:off x="7580375" y="3931920"/>
            <a:ext cx="3813048" cy="1133856"/>
          </a:xfrm>
          <a:prstGeom prst="rect">
            <a:avLst/>
          </a:prstGeom>
          <a:noFill/>
        </p:spPr>
        <p:txBody>
          <a:bodyPr wrap="square" lIns="0" rIns="0" tIns="0" bIns="0">
            <a:spAutoFit/>
          </a:bodyPr>
          <a:lstStyle/>
          <a:p>
            <a:pPr>
              <a:spcAft>
                <a:spcPts val="300"/>
              </a:spcAft>
              <a:defRPr sz="1600" b="0">
                <a:solidFill>
                  <a:srgbClr val="FFFFFF"/>
                </a:solidFill>
                <a:latin typeface="Arial"/>
              </a:defRPr>
            </a:pPr>
            <a:r>
              <a:t>Haver: local recipe documented</a:t>
            </a:r>
          </a:p>
          <a:p>
            <a:pPr>
              <a:spcAft>
                <a:spcPts val="300"/>
              </a:spcAft>
              <a:defRPr sz="1600" b="0">
                <a:solidFill>
                  <a:srgbClr val="FFFFFF"/>
                </a:solidFill>
                <a:latin typeface="Arial"/>
              </a:defRPr>
            </a:pPr>
            <a:r>
              <a:t>Grove BBG updater: calls unfinished</a:t>
            </a:r>
          </a:p>
          <a:p>
            <a:pPr>
              <a:spcAft>
                <a:spcPts val="300"/>
              </a:spcAft>
              <a:defRPr sz="1600" b="0">
                <a:solidFill>
                  <a:srgbClr val="FFFFFF"/>
                </a:solidFill>
                <a:latin typeface="Arial"/>
              </a:defRPr>
            </a:pPr>
            <a:r>
              <a:t>Yahoo refresh: endpoint to resolve</a:t>
            </a:r>
          </a:p>
        </p:txBody>
      </p:sp>
      <p:sp>
        <p:nvSpPr>
          <p:cNvPr id="28" name="Rounded Rectangle 27"/>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Naming starts with the project’s existing convention, then an exact collision check. No invented global pattern.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The risk work reveals three different historical jobs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Each answers a different question and needs different evidence.</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11</a:t>
            </a:r>
          </a:p>
        </p:txBody>
      </p:sp>
      <p:sp>
        <p:nvSpPr>
          <p:cNvPr id="8" name="Rounded Rectangle 7"/>
          <p:cNvSpPr/>
          <p:nvPr/>
        </p:nvSpPr>
        <p:spPr>
          <a:xfrm>
            <a:off x="521207" y="1874519"/>
            <a:ext cx="3547872" cy="3355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7" y="1874519"/>
            <a:ext cx="50292" cy="3355848"/>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039112"/>
            <a:ext cx="3145536"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Broker reconciliation</a:t>
            </a:r>
          </a:p>
        </p:txBody>
      </p:sp>
      <p:sp>
        <p:nvSpPr>
          <p:cNvPr id="11" name="TextBox 10"/>
          <p:cNvSpPr txBox="1"/>
          <p:nvPr/>
        </p:nvSpPr>
        <p:spPr>
          <a:xfrm>
            <a:off x="722375" y="2651760"/>
            <a:ext cx="3145536" cy="2441448"/>
          </a:xfrm>
          <a:prstGeom prst="rect">
            <a:avLst/>
          </a:prstGeom>
          <a:noFill/>
        </p:spPr>
        <p:txBody>
          <a:bodyPr wrap="square" lIns="0" rIns="0" tIns="0" bIns="0">
            <a:spAutoFit/>
          </a:bodyPr>
          <a:lstStyle/>
          <a:p>
            <a:pPr>
              <a:spcAft>
                <a:spcPts val="300"/>
              </a:spcAft>
              <a:defRPr sz="1800" b="0">
                <a:solidFill>
                  <a:srgbClr val="61736B"/>
                </a:solidFill>
                <a:latin typeface="Arial"/>
              </a:defRPr>
            </a:pPr>
            <a:r>
              <a:t>What actually happened?</a:t>
            </a:r>
          </a:p>
          <a:p>
            <a:pPr>
              <a:spcAft>
                <a:spcPts val="0"/>
              </a:spcAft>
              <a:defRPr sz="720" b="0">
                <a:solidFill>
                  <a:srgbClr val="61736B"/>
                </a:solidFill>
                <a:latin typeface="Arial"/>
              </a:defRPr>
            </a:pPr>
          </a:p>
          <a:p>
            <a:pPr>
              <a:spcAft>
                <a:spcPts val="300"/>
              </a:spcAft>
              <a:defRPr sz="1800" b="0">
                <a:solidFill>
                  <a:srgbClr val="61736B"/>
                </a:solidFill>
                <a:latin typeface="Arial"/>
              </a:defRPr>
            </a:pPr>
            <a:r>
              <a:t>Match snapshots to activity statements and contract records.</a:t>
            </a:r>
          </a:p>
          <a:p>
            <a:pPr>
              <a:spcAft>
                <a:spcPts val="0"/>
              </a:spcAft>
              <a:defRPr sz="720" b="0">
                <a:solidFill>
                  <a:srgbClr val="61736B"/>
                </a:solidFill>
                <a:latin typeface="Arial"/>
              </a:defRPr>
            </a:pPr>
          </a:p>
          <a:p>
            <a:pPr>
              <a:spcAft>
                <a:spcPts val="300"/>
              </a:spcAft>
              <a:defRPr sz="1800" b="0">
                <a:solidFill>
                  <a:srgbClr val="61736B"/>
                </a:solidFill>
                <a:latin typeface="Arial"/>
              </a:defRPr>
            </a:pPr>
            <a:r>
              <a:t>Output: explained changes and unresolved differences.</a:t>
            </a:r>
          </a:p>
        </p:txBody>
      </p:sp>
      <p:sp>
        <p:nvSpPr>
          <p:cNvPr id="12" name="Rounded Rectangle 11"/>
          <p:cNvSpPr/>
          <p:nvPr/>
        </p:nvSpPr>
        <p:spPr>
          <a:xfrm>
            <a:off x="4315968" y="1874519"/>
            <a:ext cx="3547872" cy="3355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74519"/>
            <a:ext cx="50292" cy="3355848"/>
          </a:xfrm>
          <a:prstGeom prst="rect">
            <a:avLst/>
          </a:prstGeom>
          <a:solidFill>
            <a:srgbClr val="425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039112"/>
            <a:ext cx="3145536"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Historical book replay</a:t>
            </a:r>
          </a:p>
        </p:txBody>
      </p:sp>
      <p:sp>
        <p:nvSpPr>
          <p:cNvPr id="15" name="TextBox 14"/>
          <p:cNvSpPr txBox="1"/>
          <p:nvPr/>
        </p:nvSpPr>
        <p:spPr>
          <a:xfrm>
            <a:off x="4517136" y="2651760"/>
            <a:ext cx="3145536" cy="2441448"/>
          </a:xfrm>
          <a:prstGeom prst="rect">
            <a:avLst/>
          </a:prstGeom>
          <a:noFill/>
        </p:spPr>
        <p:txBody>
          <a:bodyPr wrap="square" lIns="0" rIns="0" tIns="0" bIns="0">
            <a:spAutoFit/>
          </a:bodyPr>
          <a:lstStyle/>
          <a:p>
            <a:pPr>
              <a:spcAft>
                <a:spcPts val="300"/>
              </a:spcAft>
              <a:defRPr sz="1800" b="0">
                <a:solidFill>
                  <a:srgbClr val="61736B"/>
                </a:solidFill>
                <a:latin typeface="Arial"/>
              </a:defRPr>
            </a:pPr>
            <a:r>
              <a:t>What if this book stayed fixed?</a:t>
            </a:r>
          </a:p>
          <a:p>
            <a:pPr>
              <a:spcAft>
                <a:spcPts val="0"/>
              </a:spcAft>
              <a:defRPr sz="720" b="0">
                <a:solidFill>
                  <a:srgbClr val="61736B"/>
                </a:solidFill>
                <a:latin typeface="Arial"/>
              </a:defRPr>
            </a:pPr>
          </a:p>
          <a:p>
            <a:pPr>
              <a:spcAft>
                <a:spcPts val="300"/>
              </a:spcAft>
              <a:defRPr sz="1800" b="0">
                <a:solidFill>
                  <a:srgbClr val="61736B"/>
                </a:solidFill>
                <a:latin typeface="Arial"/>
              </a:defRPr>
            </a:pPr>
            <a:r>
              <a:t>Reprice a dated set of positions through market history.</a:t>
            </a:r>
          </a:p>
          <a:p>
            <a:pPr>
              <a:spcAft>
                <a:spcPts val="0"/>
              </a:spcAft>
              <a:defRPr sz="720" b="0">
                <a:solidFill>
                  <a:srgbClr val="61736B"/>
                </a:solidFill>
                <a:latin typeface="Arial"/>
              </a:defRPr>
            </a:pPr>
          </a:p>
          <a:p>
            <a:pPr>
              <a:spcAft>
                <a:spcPts val="300"/>
              </a:spcAft>
              <a:defRPr sz="1800" b="0">
                <a:solidFill>
                  <a:srgbClr val="61736B"/>
                </a:solidFill>
                <a:latin typeface="Arial"/>
              </a:defRPr>
            </a:pPr>
            <a:r>
              <a:t>Output: a hypothetical P&amp;L path and assumptions.</a:t>
            </a:r>
          </a:p>
        </p:txBody>
      </p:sp>
      <p:sp>
        <p:nvSpPr>
          <p:cNvPr id="16" name="Rounded Rectangle 15"/>
          <p:cNvSpPr/>
          <p:nvPr/>
        </p:nvSpPr>
        <p:spPr>
          <a:xfrm>
            <a:off x="8110727" y="1874519"/>
            <a:ext cx="3566160" cy="3355848"/>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7" y="1874519"/>
            <a:ext cx="50292" cy="3355848"/>
          </a:xfrm>
          <a:prstGeom prst="rect">
            <a:avLst/>
          </a:prstGeom>
          <a:solidFill>
            <a:srgbClr val="9A64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039112"/>
            <a:ext cx="316382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Signal backtest</a:t>
            </a:r>
          </a:p>
        </p:txBody>
      </p:sp>
      <p:sp>
        <p:nvSpPr>
          <p:cNvPr id="19" name="TextBox 18"/>
          <p:cNvSpPr txBox="1"/>
          <p:nvPr/>
        </p:nvSpPr>
        <p:spPr>
          <a:xfrm>
            <a:off x="8311896" y="2651760"/>
            <a:ext cx="3163824" cy="2441448"/>
          </a:xfrm>
          <a:prstGeom prst="rect">
            <a:avLst/>
          </a:prstGeom>
          <a:noFill/>
        </p:spPr>
        <p:txBody>
          <a:bodyPr wrap="square" lIns="0" rIns="0" tIns="0" bIns="0">
            <a:spAutoFit/>
          </a:bodyPr>
          <a:lstStyle/>
          <a:p>
            <a:pPr>
              <a:spcAft>
                <a:spcPts val="300"/>
              </a:spcAft>
              <a:defRPr sz="1800" b="0">
                <a:solidFill>
                  <a:srgbClr val="61736B"/>
                </a:solidFill>
                <a:latin typeface="Arial"/>
              </a:defRPr>
            </a:pPr>
            <a:r>
              <a:t>What would this rule have done?</a:t>
            </a:r>
          </a:p>
          <a:p>
            <a:pPr>
              <a:spcAft>
                <a:spcPts val="0"/>
              </a:spcAft>
              <a:defRPr sz="720" b="0">
                <a:solidFill>
                  <a:srgbClr val="61736B"/>
                </a:solidFill>
                <a:latin typeface="Arial"/>
              </a:defRPr>
            </a:pPr>
          </a:p>
          <a:p>
            <a:pPr>
              <a:spcAft>
                <a:spcPts val="300"/>
              </a:spcAft>
              <a:defRPr sz="1800" b="0">
                <a:solidFill>
                  <a:srgbClr val="61736B"/>
                </a:solidFill>
                <a:latin typeface="Arial"/>
              </a:defRPr>
            </a:pPr>
            <a:r>
              <a:t>Change positions using the information available at each date.</a:t>
            </a:r>
          </a:p>
          <a:p>
            <a:pPr>
              <a:spcAft>
                <a:spcPts val="0"/>
              </a:spcAft>
              <a:defRPr sz="720" b="0">
                <a:solidFill>
                  <a:srgbClr val="61736B"/>
                </a:solidFill>
                <a:latin typeface="Arial"/>
              </a:defRPr>
            </a:pPr>
          </a:p>
          <a:p>
            <a:pPr>
              <a:spcAft>
                <a:spcPts val="300"/>
              </a:spcAft>
              <a:defRPr sz="1800" b="0">
                <a:solidFill>
                  <a:srgbClr val="61736B"/>
                </a:solidFill>
                <a:latin typeface="Arial"/>
              </a:defRPr>
            </a:pPr>
            <a:r>
              <a:t>Output: trades, returns, costs, and sensitivity.</a:t>
            </a:r>
          </a:p>
        </p:txBody>
      </p:sp>
      <p:sp>
        <p:nvSpPr>
          <p:cNvPr id="20" name="Rounded Rectangle 19"/>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Alongside these: current exposures, scenario shocks, expiry review, and data-freshness monitoring.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Learn from old work before writing more instructions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A cheaper model finds candidate lessons; Campbell and a reviewer decide what belongs in the system.</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12</a:t>
            </a:r>
          </a:p>
        </p:txBody>
      </p:sp>
      <p:sp>
        <p:nvSpPr>
          <p:cNvPr id="8" name="Rounded Rectangle 7"/>
          <p:cNvSpPr/>
          <p:nvPr/>
        </p:nvSpPr>
        <p:spPr>
          <a:xfrm>
            <a:off x="521207" y="1938528"/>
            <a:ext cx="2587752" cy="258775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7" y="1938528"/>
            <a:ext cx="50292" cy="2587752"/>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5" y="2103120"/>
            <a:ext cx="2185416"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SCREEN</a:t>
            </a:r>
          </a:p>
        </p:txBody>
      </p:sp>
      <p:sp>
        <p:nvSpPr>
          <p:cNvPr id="11" name="TextBox 10"/>
          <p:cNvSpPr txBox="1"/>
          <p:nvPr/>
        </p:nvSpPr>
        <p:spPr>
          <a:xfrm>
            <a:off x="722375" y="2715768"/>
            <a:ext cx="2185416" cy="1673352"/>
          </a:xfrm>
          <a:prstGeom prst="rect">
            <a:avLst/>
          </a:prstGeom>
          <a:noFill/>
        </p:spPr>
        <p:txBody>
          <a:bodyPr wrap="square" lIns="0" rIns="0" tIns="0" bIns="0">
            <a:spAutoFit/>
          </a:bodyPr>
          <a:lstStyle/>
          <a:p>
            <a:pPr>
              <a:spcAft>
                <a:spcPts val="0"/>
              </a:spcAft>
              <a:defRPr sz="1800" b="0">
                <a:solidFill>
                  <a:srgbClr val="61736B"/>
                </a:solidFill>
                <a:latin typeface="Arial"/>
              </a:defRPr>
            </a:pPr>
            <a:r>
              <a:t>Corrections, frustration, praise, failures, successes, neutral examples</a:t>
            </a:r>
          </a:p>
        </p:txBody>
      </p:sp>
      <p:sp>
        <p:nvSpPr>
          <p:cNvPr id="12" name="Rounded Rectangle 11"/>
          <p:cNvSpPr/>
          <p:nvPr/>
        </p:nvSpPr>
        <p:spPr>
          <a:xfrm>
            <a:off x="3383279" y="1938528"/>
            <a:ext cx="2587752" cy="258775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79" y="1938528"/>
            <a:ext cx="50292" cy="2587752"/>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4448" y="2103120"/>
            <a:ext cx="2185416"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READ</a:t>
            </a:r>
          </a:p>
        </p:txBody>
      </p:sp>
      <p:sp>
        <p:nvSpPr>
          <p:cNvPr id="15" name="TextBox 14"/>
          <p:cNvSpPr txBox="1"/>
          <p:nvPr/>
        </p:nvSpPr>
        <p:spPr>
          <a:xfrm>
            <a:off x="3584448" y="2715768"/>
            <a:ext cx="2185416" cy="1673352"/>
          </a:xfrm>
          <a:prstGeom prst="rect">
            <a:avLst/>
          </a:prstGeom>
          <a:noFill/>
        </p:spPr>
        <p:txBody>
          <a:bodyPr wrap="square" lIns="0" rIns="0" tIns="0" bIns="0">
            <a:spAutoFit/>
          </a:bodyPr>
          <a:lstStyle/>
          <a:p>
            <a:pPr>
              <a:spcAft>
                <a:spcPts val="0"/>
              </a:spcAft>
              <a:defRPr sz="1800" b="0">
                <a:solidFill>
                  <a:srgbClr val="61736B"/>
                </a:solidFill>
                <a:latin typeface="Arial"/>
              </a:defRPr>
            </a:pPr>
            <a:r>
              <a:t>Read the surrounding episode and inspect the outcome evidence</a:t>
            </a:r>
          </a:p>
        </p:txBody>
      </p:sp>
      <p:sp>
        <p:nvSpPr>
          <p:cNvPr id="16" name="Rounded Rectangle 15"/>
          <p:cNvSpPr/>
          <p:nvPr/>
        </p:nvSpPr>
        <p:spPr>
          <a:xfrm>
            <a:off x="6245352" y="1938528"/>
            <a:ext cx="2587752" cy="258775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1938528"/>
            <a:ext cx="50292" cy="2587752"/>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103120"/>
            <a:ext cx="2185416"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PROPOSE</a:t>
            </a:r>
          </a:p>
        </p:txBody>
      </p:sp>
      <p:sp>
        <p:nvSpPr>
          <p:cNvPr id="19" name="TextBox 18"/>
          <p:cNvSpPr txBox="1"/>
          <p:nvPr/>
        </p:nvSpPr>
        <p:spPr>
          <a:xfrm>
            <a:off x="6446520" y="2715768"/>
            <a:ext cx="2185416" cy="1673352"/>
          </a:xfrm>
          <a:prstGeom prst="rect">
            <a:avLst/>
          </a:prstGeom>
          <a:noFill/>
        </p:spPr>
        <p:txBody>
          <a:bodyPr wrap="square" lIns="0" rIns="0" tIns="0" bIns="0">
            <a:spAutoFit/>
          </a:bodyPr>
          <a:lstStyle/>
          <a:p>
            <a:pPr>
              <a:spcAft>
                <a:spcPts val="0"/>
              </a:spcAft>
              <a:defRPr sz="1800" b="0">
                <a:solidFill>
                  <a:srgbClr val="61736B"/>
                </a:solidFill>
                <a:latin typeface="Arial"/>
              </a:defRPr>
            </a:pPr>
            <a:r>
              <a:t>A scoped principle with source quotes and uncertainty</a:t>
            </a:r>
          </a:p>
        </p:txBody>
      </p:sp>
      <p:sp>
        <p:nvSpPr>
          <p:cNvPr id="20" name="Rounded Rectangle 19"/>
          <p:cNvSpPr/>
          <p:nvPr/>
        </p:nvSpPr>
        <p:spPr>
          <a:xfrm>
            <a:off x="9107424" y="1938528"/>
            <a:ext cx="2587752" cy="2587752"/>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07424" y="1938528"/>
            <a:ext cx="50292" cy="2587752"/>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08592" y="2103120"/>
            <a:ext cx="2185416"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SORT</a:t>
            </a:r>
          </a:p>
        </p:txBody>
      </p:sp>
      <p:sp>
        <p:nvSpPr>
          <p:cNvPr id="23" name="TextBox 22"/>
          <p:cNvSpPr txBox="1"/>
          <p:nvPr/>
        </p:nvSpPr>
        <p:spPr>
          <a:xfrm>
            <a:off x="9308592" y="2715768"/>
            <a:ext cx="2185416" cy="1673352"/>
          </a:xfrm>
          <a:prstGeom prst="rect">
            <a:avLst/>
          </a:prstGeom>
          <a:noFill/>
        </p:spPr>
        <p:txBody>
          <a:bodyPr wrap="square" lIns="0" rIns="0" tIns="0" bIns="0">
            <a:spAutoFit/>
          </a:bodyPr>
          <a:lstStyle/>
          <a:p>
            <a:pPr>
              <a:spcAft>
                <a:spcPts val="0"/>
              </a:spcAft>
              <a:defRPr sz="1800" b="0">
                <a:solidFill>
                  <a:srgbClr val="61736B"/>
                </a:solidFill>
                <a:latin typeface="Arial"/>
              </a:defRPr>
            </a:pPr>
            <a:r>
              <a:t>Persona, skill, process fix, more evidence, or dismiss</a:t>
            </a:r>
          </a:p>
        </p:txBody>
      </p:sp>
      <p:sp>
        <p:nvSpPr>
          <p:cNvPr id="24" name="TextBox 23"/>
          <p:cNvSpPr txBox="1"/>
          <p:nvPr/>
        </p:nvSpPr>
        <p:spPr>
          <a:xfrm>
            <a:off x="713232" y="4828032"/>
            <a:ext cx="10771632" cy="466344"/>
          </a:xfrm>
          <a:prstGeom prst="rect">
            <a:avLst/>
          </a:prstGeom>
          <a:noFill/>
        </p:spPr>
        <p:txBody>
          <a:bodyPr wrap="square" lIns="0" rIns="0" tIns="0" bIns="0">
            <a:spAutoFit/>
          </a:bodyPr>
          <a:lstStyle/>
          <a:p>
            <a:pPr>
              <a:spcAft>
                <a:spcPts val="0"/>
              </a:spcAft>
              <a:defRPr sz="2200" b="1">
                <a:solidFill>
                  <a:srgbClr val="42694F"/>
                </a:solidFill>
                <a:latin typeface="Arial"/>
              </a:defRPr>
            </a:pPr>
            <a:r>
              <a:t>The inbox records human review. It does not rewrite active instructions.</a:t>
            </a:r>
          </a:p>
        </p:txBody>
      </p:sp>
      <p:sp>
        <p:nvSpPr>
          <p:cNvPr id="25" name="Rounded Rectangle 24"/>
          <p:cNvSpPr/>
          <p:nvPr/>
        </p:nvSpPr>
        <p:spPr>
          <a:xfrm>
            <a:off x="502920" y="5806440"/>
            <a:ext cx="11173968" cy="457200"/>
          </a:xfrm>
          <a:prstGeom prst="roundRect">
            <a:avLst>
              <a:gd name="adj" fmla="val 9000"/>
            </a:avLst>
          </a:prstGeom>
          <a:solidFill>
            <a:srgbClr val="F3E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A reaction is a lead, not proof. A principle becomes a skill only when it becomes a concrete procedure.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Evolution means controlled comparisons</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Change one role specification while keeping the other agents and test conditions fixed.</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13</a:t>
            </a:r>
          </a:p>
        </p:txBody>
      </p:sp>
      <p:sp>
        <p:nvSpPr>
          <p:cNvPr id="8" name="Rounded Rectangle 7"/>
          <p:cNvSpPr/>
          <p:nvPr/>
        </p:nvSpPr>
        <p:spPr>
          <a:xfrm>
            <a:off x="521207" y="1856231"/>
            <a:ext cx="2907792" cy="3483864"/>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03120"/>
            <a:ext cx="2478024" cy="379730"/>
          </a:xfrm>
          <a:prstGeom prst="rect">
            <a:avLst/>
          </a:prstGeom>
          <a:noFill/>
        </p:spPr>
        <p:txBody>
          <a:bodyPr wrap="square" lIns="0" rIns="0" tIns="0" bIns="0">
            <a:spAutoFit/>
          </a:bodyPr>
          <a:lstStyle/>
          <a:p>
            <a:pPr>
              <a:spcAft>
                <a:spcPts val="0"/>
              </a:spcAft>
              <a:defRPr sz="2300" b="1">
                <a:solidFill>
                  <a:srgbClr val="FFFFFF"/>
                </a:solidFill>
                <a:latin typeface="Arial"/>
              </a:defRPr>
            </a:pPr>
            <a:r>
              <a:t>Keep fixed</a:t>
            </a:r>
          </a:p>
        </p:txBody>
      </p:sp>
      <p:sp>
        <p:nvSpPr>
          <p:cNvPr id="10" name="TextBox 9"/>
          <p:cNvSpPr txBox="1"/>
          <p:nvPr/>
        </p:nvSpPr>
        <p:spPr>
          <a:xfrm>
            <a:off x="749808" y="2788920"/>
            <a:ext cx="2423160" cy="2048256"/>
          </a:xfrm>
          <a:prstGeom prst="rect">
            <a:avLst/>
          </a:prstGeom>
          <a:noFill/>
        </p:spPr>
        <p:txBody>
          <a:bodyPr wrap="square" lIns="0" rIns="0" tIns="0" bIns="0">
            <a:spAutoFit/>
          </a:bodyPr>
          <a:lstStyle/>
          <a:p>
            <a:pPr>
              <a:spcAft>
                <a:spcPts val="300"/>
              </a:spcAft>
              <a:defRPr sz="1900" b="0">
                <a:solidFill>
                  <a:srgbClr val="E2EADF"/>
                </a:solidFill>
                <a:latin typeface="Arial"/>
              </a:defRPr>
            </a:pPr>
            <a:r>
              <a:t>Other role versions</a:t>
            </a:r>
          </a:p>
          <a:p>
            <a:pPr>
              <a:spcAft>
                <a:spcPts val="300"/>
              </a:spcAft>
              <a:defRPr sz="1900" b="0">
                <a:solidFill>
                  <a:srgbClr val="E2EADF"/>
                </a:solidFill>
                <a:latin typeface="Arial"/>
              </a:defRPr>
            </a:pPr>
            <a:r>
              <a:t>Model and tools</a:t>
            </a:r>
          </a:p>
          <a:p>
            <a:pPr>
              <a:spcAft>
                <a:spcPts val="300"/>
              </a:spcAft>
              <a:defRPr sz="1900" b="0">
                <a:solidFill>
                  <a:srgbClr val="E2EADF"/>
                </a:solidFill>
                <a:latin typeface="Arial"/>
              </a:defRPr>
            </a:pPr>
            <a:r>
              <a:t>Data known at each date</a:t>
            </a:r>
          </a:p>
          <a:p>
            <a:pPr>
              <a:spcAft>
                <a:spcPts val="300"/>
              </a:spcAft>
              <a:defRPr sz="1900" b="0">
                <a:solidFill>
                  <a:srgbClr val="E2EADF"/>
                </a:solidFill>
                <a:latin typeface="Arial"/>
              </a:defRPr>
            </a:pPr>
            <a:r>
              <a:t>Tasks and budgets</a:t>
            </a:r>
          </a:p>
          <a:p>
            <a:pPr>
              <a:spcAft>
                <a:spcPts val="300"/>
              </a:spcAft>
              <a:defRPr sz="1900" b="0">
                <a:solidFill>
                  <a:srgbClr val="E2EADF"/>
                </a:solidFill>
                <a:latin typeface="Arial"/>
              </a:defRPr>
            </a:pPr>
            <a:r>
              <a:t>Scoring rules</a:t>
            </a:r>
          </a:p>
        </p:txBody>
      </p:sp>
      <p:sp>
        <p:nvSpPr>
          <p:cNvPr id="11" name="Rounded Rectangle 10"/>
          <p:cNvSpPr/>
          <p:nvPr/>
        </p:nvSpPr>
        <p:spPr>
          <a:xfrm>
            <a:off x="3931920" y="1874519"/>
            <a:ext cx="3337560" cy="150876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31920" y="1874519"/>
            <a:ext cx="50292" cy="1508760"/>
          </a:xfrm>
          <a:prstGeom prst="rect">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33087" y="2039112"/>
            <a:ext cx="293522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Baseline role</a:t>
            </a:r>
          </a:p>
        </p:txBody>
      </p:sp>
      <p:sp>
        <p:nvSpPr>
          <p:cNvPr id="14" name="TextBox 13"/>
          <p:cNvSpPr txBox="1"/>
          <p:nvPr/>
        </p:nvSpPr>
        <p:spPr>
          <a:xfrm>
            <a:off x="4133087" y="2651760"/>
            <a:ext cx="2935224" cy="594359"/>
          </a:xfrm>
          <a:prstGeom prst="rect">
            <a:avLst/>
          </a:prstGeom>
          <a:noFill/>
        </p:spPr>
        <p:txBody>
          <a:bodyPr wrap="square" lIns="0" rIns="0" tIns="0" bIns="0">
            <a:spAutoFit/>
          </a:bodyPr>
          <a:lstStyle/>
          <a:p>
            <a:pPr>
              <a:spcAft>
                <a:spcPts val="300"/>
              </a:spcAft>
              <a:defRPr sz="1700" b="0">
                <a:solidFill>
                  <a:srgbClr val="61736B"/>
                </a:solidFill>
                <a:latin typeface="Arial"/>
              </a:defRPr>
            </a:pPr>
            <a:r>
              <a:t>Same historical tasks.</a:t>
            </a:r>
          </a:p>
          <a:p>
            <a:pPr>
              <a:spcAft>
                <a:spcPts val="300"/>
              </a:spcAft>
              <a:defRPr sz="1700" b="0">
                <a:solidFill>
                  <a:srgbClr val="61736B"/>
                </a:solidFill>
                <a:latin typeface="Arial"/>
              </a:defRPr>
            </a:pPr>
            <a:r>
              <a:t>Save the evidence.</a:t>
            </a:r>
          </a:p>
        </p:txBody>
      </p:sp>
      <p:sp>
        <p:nvSpPr>
          <p:cNvPr id="15" name="Rounded Rectangle 14"/>
          <p:cNvSpPr/>
          <p:nvPr/>
        </p:nvSpPr>
        <p:spPr>
          <a:xfrm>
            <a:off x="3931920" y="3758184"/>
            <a:ext cx="3337560" cy="1508760"/>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31920" y="3758184"/>
            <a:ext cx="50292" cy="1508760"/>
          </a:xfrm>
          <a:prstGeom prst="rect">
            <a:avLst/>
          </a:prstGeom>
          <a:solidFill>
            <a:srgbClr val="425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33087" y="3922776"/>
            <a:ext cx="2935224" cy="438912"/>
          </a:xfrm>
          <a:prstGeom prst="rect">
            <a:avLst/>
          </a:prstGeom>
          <a:noFill/>
        </p:spPr>
        <p:txBody>
          <a:bodyPr wrap="square" lIns="0" rIns="0" tIns="0" bIns="0">
            <a:spAutoFit/>
          </a:bodyPr>
          <a:lstStyle/>
          <a:p>
            <a:pPr>
              <a:spcAft>
                <a:spcPts val="0"/>
              </a:spcAft>
              <a:defRPr sz="2200" b="1">
                <a:solidFill>
                  <a:srgbClr val="1D302B"/>
                </a:solidFill>
                <a:latin typeface="Arial"/>
              </a:defRPr>
            </a:pPr>
            <a:r>
              <a:t>Candidate role</a:t>
            </a:r>
          </a:p>
        </p:txBody>
      </p:sp>
      <p:sp>
        <p:nvSpPr>
          <p:cNvPr id="18" name="TextBox 17"/>
          <p:cNvSpPr txBox="1"/>
          <p:nvPr/>
        </p:nvSpPr>
        <p:spPr>
          <a:xfrm>
            <a:off x="4133087" y="4535424"/>
            <a:ext cx="2935224" cy="594359"/>
          </a:xfrm>
          <a:prstGeom prst="rect">
            <a:avLst/>
          </a:prstGeom>
          <a:noFill/>
        </p:spPr>
        <p:txBody>
          <a:bodyPr wrap="square" lIns="0" rIns="0" tIns="0" bIns="0">
            <a:spAutoFit/>
          </a:bodyPr>
          <a:lstStyle/>
          <a:p>
            <a:pPr>
              <a:spcAft>
                <a:spcPts val="300"/>
              </a:spcAft>
              <a:defRPr sz="1700" b="0">
                <a:solidFill>
                  <a:srgbClr val="61736B"/>
                </a:solidFill>
                <a:latin typeface="Arial"/>
              </a:defRPr>
            </a:pPr>
            <a:r>
              <a:t>Same historical tasks.</a:t>
            </a:r>
          </a:p>
          <a:p>
            <a:pPr>
              <a:spcAft>
                <a:spcPts val="300"/>
              </a:spcAft>
              <a:defRPr sz="1700" b="0">
                <a:solidFill>
                  <a:srgbClr val="61736B"/>
                </a:solidFill>
                <a:latin typeface="Arial"/>
              </a:defRPr>
            </a:pPr>
            <a:r>
              <a:t>Save the evidence.</a:t>
            </a:r>
          </a:p>
        </p:txBody>
      </p:sp>
      <p:sp>
        <p:nvSpPr>
          <p:cNvPr id="19" name="Chevron 18"/>
          <p:cNvSpPr/>
          <p:nvPr/>
        </p:nvSpPr>
        <p:spPr>
          <a:xfrm>
            <a:off x="7434072" y="2532888"/>
            <a:ext cx="329184" cy="219456"/>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evron 19"/>
          <p:cNvSpPr/>
          <p:nvPr/>
        </p:nvSpPr>
        <p:spPr>
          <a:xfrm>
            <a:off x="7434072" y="4434840"/>
            <a:ext cx="329184" cy="219456"/>
          </a:xfrm>
          <a:prstGeom prst="chevron">
            <a:avLst/>
          </a:prstGeom>
          <a:solidFill>
            <a:srgbClr val="426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19288" y="1856231"/>
            <a:ext cx="3657600" cy="348386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2103120"/>
            <a:ext cx="3209544"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Compare and review</a:t>
            </a:r>
          </a:p>
        </p:txBody>
      </p:sp>
      <p:sp>
        <p:nvSpPr>
          <p:cNvPr id="23" name="TextBox 22"/>
          <p:cNvSpPr txBox="1"/>
          <p:nvPr/>
        </p:nvSpPr>
        <p:spPr>
          <a:xfrm>
            <a:off x="8247888" y="2788920"/>
            <a:ext cx="3182112" cy="2103120"/>
          </a:xfrm>
          <a:prstGeom prst="rect">
            <a:avLst/>
          </a:prstGeom>
          <a:noFill/>
        </p:spPr>
        <p:txBody>
          <a:bodyPr wrap="square" lIns="0" rIns="0" tIns="0" bIns="0">
            <a:spAutoFit/>
          </a:bodyPr>
          <a:lstStyle/>
          <a:p>
            <a:pPr>
              <a:spcAft>
                <a:spcPts val="300"/>
              </a:spcAft>
              <a:defRPr sz="1800" b="0">
                <a:solidFill>
                  <a:srgbClr val="61736B"/>
                </a:solidFill>
                <a:latin typeface="Arial"/>
              </a:defRPr>
            </a:pPr>
            <a:r>
              <a:t>Task quality and correctness</a:t>
            </a:r>
          </a:p>
          <a:p>
            <a:pPr>
              <a:spcAft>
                <a:spcPts val="300"/>
              </a:spcAft>
              <a:defRPr sz="1800" b="0">
                <a:solidFill>
                  <a:srgbClr val="61736B"/>
                </a:solidFill>
                <a:latin typeface="Arial"/>
              </a:defRPr>
            </a:pPr>
            <a:r>
              <a:t>P&amp;L, risk, and exposures</a:t>
            </a:r>
          </a:p>
          <a:p>
            <a:pPr>
              <a:spcAft>
                <a:spcPts val="300"/>
              </a:spcAft>
              <a:defRPr sz="1800" b="0">
                <a:solidFill>
                  <a:srgbClr val="61736B"/>
                </a:solidFill>
                <a:latin typeface="Arial"/>
              </a:defRPr>
            </a:pPr>
            <a:r>
              <a:t>Time, tokens, and cost</a:t>
            </a:r>
          </a:p>
          <a:p>
            <a:pPr>
              <a:spcAft>
                <a:spcPts val="300"/>
              </a:spcAft>
              <a:defRPr sz="1800" b="0">
                <a:solidFill>
                  <a:srgbClr val="61736B"/>
                </a:solidFill>
                <a:latin typeface="Arial"/>
              </a:defRPr>
            </a:pPr>
            <a:r>
              <a:t>Human judgment</a:t>
            </a:r>
          </a:p>
          <a:p>
            <a:pPr>
              <a:spcAft>
                <a:spcPts val="300"/>
              </a:spcAft>
              <a:defRPr sz="1800" b="0">
                <a:solidFill>
                  <a:srgbClr val="61736B"/>
                </a:solidFill>
                <a:latin typeface="Arial"/>
              </a:defRPr>
            </a:pPr>
            <a:r>
              <a:t>Stability across test periods</a:t>
            </a:r>
          </a:p>
        </p:txBody>
      </p:sp>
      <p:sp>
        <p:nvSpPr>
          <p:cNvPr id="24" name="Rounded Rectangle 23"/>
          <p:cNvSpPr/>
          <p:nvPr/>
        </p:nvSpPr>
        <p:spPr>
          <a:xfrm>
            <a:off x="502920" y="5806440"/>
            <a:ext cx="11173968" cy="457200"/>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Tune on one set of periods; evaluate on held-out periods. Adopt a new version only after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The local interface makes the design inspectable</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People can see the same saved context and role definitions that another agent can retrieve.</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14</a:t>
            </a:r>
          </a:p>
        </p:txBody>
      </p:sp>
      <p:sp>
        <p:nvSpPr>
          <p:cNvPr id="8" name="Rounded Rectangle 7"/>
          <p:cNvSpPr/>
          <p:nvPr/>
        </p:nvSpPr>
        <p:spPr>
          <a:xfrm>
            <a:off x="502920" y="1837943"/>
            <a:ext cx="7872983" cy="4105656"/>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le-skills-desktop.png"/>
          <p:cNvPicPr>
            <a:picLocks noChangeAspect="1"/>
          </p:cNvPicPr>
          <p:nvPr/>
        </p:nvPicPr>
        <p:blipFill>
          <a:blip r:embed="rId2"/>
          <a:stretch>
            <a:fillRect/>
          </a:stretch>
        </p:blipFill>
        <p:spPr>
          <a:xfrm>
            <a:off x="1691640" y="1938528"/>
            <a:ext cx="5503955" cy="3822191"/>
          </a:xfrm>
          <a:prstGeom prst="rect">
            <a:avLst/>
          </a:prstGeom>
        </p:spPr>
      </p:pic>
      <p:sp>
        <p:nvSpPr>
          <p:cNvPr id="10" name="TextBox 9"/>
          <p:cNvSpPr txBox="1"/>
          <p:nvPr/>
        </p:nvSpPr>
        <p:spPr>
          <a:xfrm>
            <a:off x="8695944" y="1956816"/>
            <a:ext cx="2862072" cy="346710"/>
          </a:xfrm>
          <a:prstGeom prst="rect">
            <a:avLst/>
          </a:prstGeom>
          <a:noFill/>
        </p:spPr>
        <p:txBody>
          <a:bodyPr wrap="square" lIns="0" rIns="0" tIns="0" bIns="0">
            <a:spAutoFit/>
          </a:bodyPr>
          <a:lstStyle/>
          <a:p>
            <a:pPr>
              <a:spcAft>
                <a:spcPts val="0"/>
              </a:spcAft>
              <a:defRPr sz="2100" b="1">
                <a:solidFill>
                  <a:srgbClr val="1D302B"/>
                </a:solidFill>
                <a:latin typeface="Arial"/>
              </a:defRPr>
            </a:pPr>
            <a:r>
              <a:t>Trace library</a:t>
            </a:r>
          </a:p>
        </p:txBody>
      </p:sp>
      <p:sp>
        <p:nvSpPr>
          <p:cNvPr id="11" name="TextBox 10"/>
          <p:cNvSpPr txBox="1"/>
          <p:nvPr/>
        </p:nvSpPr>
        <p:spPr>
          <a:xfrm>
            <a:off x="8695944" y="2395728"/>
            <a:ext cx="2834640" cy="502920"/>
          </a:xfrm>
          <a:prstGeom prst="rect">
            <a:avLst/>
          </a:prstGeom>
          <a:noFill/>
        </p:spPr>
        <p:txBody>
          <a:bodyPr wrap="square" lIns="0" rIns="0" tIns="0" bIns="0">
            <a:spAutoFit/>
          </a:bodyPr>
          <a:lstStyle/>
          <a:p>
            <a:pPr>
              <a:spcAft>
                <a:spcPts val="0"/>
              </a:spcAft>
              <a:defRPr sz="1600" b="0">
                <a:solidFill>
                  <a:srgbClr val="61736B"/>
                </a:solidFill>
                <a:latin typeface="Arial"/>
              </a:defRPr>
            </a:pPr>
            <a:r>
              <a:t>Find records and inspect source events.</a:t>
            </a:r>
          </a:p>
        </p:txBody>
      </p:sp>
      <p:sp>
        <p:nvSpPr>
          <p:cNvPr id="12" name="TextBox 11"/>
          <p:cNvSpPr txBox="1"/>
          <p:nvPr/>
        </p:nvSpPr>
        <p:spPr>
          <a:xfrm>
            <a:off x="8695944" y="2944368"/>
            <a:ext cx="2862072" cy="346710"/>
          </a:xfrm>
          <a:prstGeom prst="rect">
            <a:avLst/>
          </a:prstGeom>
          <a:noFill/>
        </p:spPr>
        <p:txBody>
          <a:bodyPr wrap="square" lIns="0" rIns="0" tIns="0" bIns="0">
            <a:spAutoFit/>
          </a:bodyPr>
          <a:lstStyle/>
          <a:p>
            <a:pPr>
              <a:spcAft>
                <a:spcPts val="0"/>
              </a:spcAft>
              <a:defRPr sz="2100" b="1">
                <a:solidFill>
                  <a:srgbClr val="1D302B"/>
                </a:solidFill>
                <a:latin typeface="Arial"/>
              </a:defRPr>
            </a:pPr>
            <a:r>
              <a:t>Thread + persona</a:t>
            </a:r>
          </a:p>
        </p:txBody>
      </p:sp>
      <p:sp>
        <p:nvSpPr>
          <p:cNvPr id="13" name="TextBox 12"/>
          <p:cNvSpPr txBox="1"/>
          <p:nvPr/>
        </p:nvSpPr>
        <p:spPr>
          <a:xfrm>
            <a:off x="8695944" y="3383280"/>
            <a:ext cx="2834640" cy="502920"/>
          </a:xfrm>
          <a:prstGeom prst="rect">
            <a:avLst/>
          </a:prstGeom>
          <a:noFill/>
        </p:spPr>
        <p:txBody>
          <a:bodyPr wrap="square" lIns="0" rIns="0" tIns="0" bIns="0">
            <a:spAutoFit/>
          </a:bodyPr>
          <a:lstStyle/>
          <a:p>
            <a:pPr>
              <a:spcAft>
                <a:spcPts val="0"/>
              </a:spcAft>
              <a:defRPr sz="1600" b="0">
                <a:solidFill>
                  <a:srgbClr val="61736B"/>
                </a:solidFill>
                <a:latin typeface="Arial"/>
              </a:defRPr>
            </a:pPr>
            <a:r>
              <a:t>Load role, skills, saved work, and gaps.</a:t>
            </a:r>
          </a:p>
        </p:txBody>
      </p:sp>
      <p:sp>
        <p:nvSpPr>
          <p:cNvPr id="14" name="TextBox 13"/>
          <p:cNvSpPr txBox="1"/>
          <p:nvPr/>
        </p:nvSpPr>
        <p:spPr>
          <a:xfrm>
            <a:off x="8695944" y="3931920"/>
            <a:ext cx="2862072" cy="346710"/>
          </a:xfrm>
          <a:prstGeom prst="rect">
            <a:avLst/>
          </a:prstGeom>
          <a:noFill/>
        </p:spPr>
        <p:txBody>
          <a:bodyPr wrap="square" lIns="0" rIns="0" tIns="0" bIns="0">
            <a:spAutoFit/>
          </a:bodyPr>
          <a:lstStyle/>
          <a:p>
            <a:pPr>
              <a:spcAft>
                <a:spcPts val="0"/>
              </a:spcAft>
              <a:defRPr sz="2100" b="1">
                <a:solidFill>
                  <a:srgbClr val="1D302B"/>
                </a:solidFill>
                <a:latin typeface="Arial"/>
              </a:defRPr>
            </a:pPr>
            <a:r>
              <a:t>Firm + skills</a:t>
            </a:r>
          </a:p>
        </p:txBody>
      </p:sp>
      <p:sp>
        <p:nvSpPr>
          <p:cNvPr id="15" name="TextBox 14"/>
          <p:cNvSpPr txBox="1"/>
          <p:nvPr/>
        </p:nvSpPr>
        <p:spPr>
          <a:xfrm>
            <a:off x="8695944" y="4370831"/>
            <a:ext cx="2834640" cy="502920"/>
          </a:xfrm>
          <a:prstGeom prst="rect">
            <a:avLst/>
          </a:prstGeom>
          <a:noFill/>
        </p:spPr>
        <p:txBody>
          <a:bodyPr wrap="square" lIns="0" rIns="0" tIns="0" bIns="0">
            <a:spAutoFit/>
          </a:bodyPr>
          <a:lstStyle/>
          <a:p>
            <a:pPr>
              <a:spcAft>
                <a:spcPts val="0"/>
              </a:spcAft>
              <a:defRPr sz="1600" b="0">
                <a:solidFill>
                  <a:srgbClr val="61736B"/>
                </a:solidFill>
                <a:latin typeface="Arial"/>
              </a:defRPr>
            </a:pPr>
            <a:r>
              <a:t>Click through roles, procedures, and feedback.</a:t>
            </a:r>
          </a:p>
        </p:txBody>
      </p:sp>
      <p:sp>
        <p:nvSpPr>
          <p:cNvPr id="16" name="TextBox 15"/>
          <p:cNvSpPr txBox="1"/>
          <p:nvPr/>
        </p:nvSpPr>
        <p:spPr>
          <a:xfrm>
            <a:off x="8695944" y="4919472"/>
            <a:ext cx="2862072" cy="346710"/>
          </a:xfrm>
          <a:prstGeom prst="rect">
            <a:avLst/>
          </a:prstGeom>
          <a:noFill/>
        </p:spPr>
        <p:txBody>
          <a:bodyPr wrap="square" lIns="0" rIns="0" tIns="0" bIns="0">
            <a:spAutoFit/>
          </a:bodyPr>
          <a:lstStyle/>
          <a:p>
            <a:pPr>
              <a:spcAft>
                <a:spcPts val="0"/>
              </a:spcAft>
              <a:defRPr sz="2100" b="1">
                <a:solidFill>
                  <a:srgbClr val="1D302B"/>
                </a:solidFill>
                <a:latin typeface="Arial"/>
              </a:defRPr>
            </a:pPr>
            <a:r>
              <a:t>Learning inbox</a:t>
            </a:r>
          </a:p>
        </p:txBody>
      </p:sp>
      <p:sp>
        <p:nvSpPr>
          <p:cNvPr id="17" name="TextBox 16"/>
          <p:cNvSpPr txBox="1"/>
          <p:nvPr/>
        </p:nvSpPr>
        <p:spPr>
          <a:xfrm>
            <a:off x="8695944" y="5358383"/>
            <a:ext cx="2834640" cy="502920"/>
          </a:xfrm>
          <a:prstGeom prst="rect">
            <a:avLst/>
          </a:prstGeom>
          <a:noFill/>
        </p:spPr>
        <p:txBody>
          <a:bodyPr wrap="square" lIns="0" rIns="0" tIns="0" bIns="0">
            <a:spAutoFit/>
          </a:bodyPr>
          <a:lstStyle/>
          <a:p>
            <a:pPr>
              <a:spcAft>
                <a:spcPts val="0"/>
              </a:spcAft>
              <a:defRPr sz="1600" b="0">
                <a:solidFill>
                  <a:srgbClr val="61736B"/>
                </a:solidFill>
                <a:latin typeface="Arial"/>
              </a:defRPr>
            </a:pPr>
            <a:r>
              <a:t>Read evidence and sort proposed lessons.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What exists today—and what still needs building</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The design is broader than the running software. Keep that boundary visible.</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15</a:t>
            </a:r>
          </a:p>
        </p:txBody>
      </p:sp>
      <p:sp>
        <p:nvSpPr>
          <p:cNvPr id="8" name="Rounded Rectangle 7"/>
          <p:cNvSpPr/>
          <p:nvPr/>
        </p:nvSpPr>
        <p:spPr>
          <a:xfrm>
            <a:off x="521207" y="1874519"/>
            <a:ext cx="3547872" cy="362102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04088" y="2057400"/>
            <a:ext cx="3163824" cy="265176"/>
          </a:xfrm>
          <a:prstGeom prst="roundRect">
            <a:avLst>
              <a:gd name="adj" fmla="val 9000"/>
            </a:avLst>
          </a:prstGeom>
          <a:solidFill>
            <a:srgbClr val="E2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10435"/>
            <a:ext cx="3035808" cy="182880"/>
          </a:xfrm>
          <a:prstGeom prst="rect">
            <a:avLst/>
          </a:prstGeom>
          <a:noFill/>
        </p:spPr>
        <p:txBody>
          <a:bodyPr wrap="square" lIns="0" rIns="0" tIns="0" bIns="0">
            <a:spAutoFit/>
          </a:bodyPr>
          <a:lstStyle/>
          <a:p>
            <a:pPr>
              <a:spcAft>
                <a:spcPts val="0"/>
              </a:spcAft>
              <a:defRPr sz="1000" b="1">
                <a:solidFill>
                  <a:srgbClr val="42694F"/>
                </a:solidFill>
                <a:latin typeface="Arial"/>
              </a:defRPr>
            </a:pPr>
            <a:r>
              <a:t>WORKING LOCAL TOOLS</a:t>
            </a:r>
          </a:p>
        </p:txBody>
      </p:sp>
      <p:sp>
        <p:nvSpPr>
          <p:cNvPr id="11" name="TextBox 10"/>
          <p:cNvSpPr txBox="1"/>
          <p:nvPr/>
        </p:nvSpPr>
        <p:spPr>
          <a:xfrm>
            <a:off x="722375" y="2724912"/>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Catalogue, keyword search, and source-event lookup</a:t>
            </a:r>
          </a:p>
        </p:txBody>
      </p:sp>
      <p:sp>
        <p:nvSpPr>
          <p:cNvPr id="12" name="TextBox 11"/>
          <p:cNvSpPr txBox="1"/>
          <p:nvPr/>
        </p:nvSpPr>
        <p:spPr>
          <a:xfrm>
            <a:off x="722375" y="3346704"/>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Threads and resume API</a:t>
            </a:r>
          </a:p>
        </p:txBody>
      </p:sp>
      <p:sp>
        <p:nvSpPr>
          <p:cNvPr id="13" name="TextBox 12"/>
          <p:cNvSpPr txBox="1"/>
          <p:nvPr/>
        </p:nvSpPr>
        <p:spPr>
          <a:xfrm>
            <a:off x="722375" y="3968496"/>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Versioned persona + starter-skill loading</a:t>
            </a:r>
          </a:p>
        </p:txBody>
      </p:sp>
      <p:sp>
        <p:nvSpPr>
          <p:cNvPr id="14" name="TextBox 13"/>
          <p:cNvSpPr txBox="1"/>
          <p:nvPr/>
        </p:nvSpPr>
        <p:spPr>
          <a:xfrm>
            <a:off x="722375" y="4590288"/>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Firm, skill, and learning review screens</a:t>
            </a:r>
          </a:p>
        </p:txBody>
      </p:sp>
      <p:sp>
        <p:nvSpPr>
          <p:cNvPr id="15" name="Rounded Rectangle 14"/>
          <p:cNvSpPr/>
          <p:nvPr/>
        </p:nvSpPr>
        <p:spPr>
          <a:xfrm>
            <a:off x="4315968" y="1874519"/>
            <a:ext cx="3547872" cy="362102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98848" y="2057400"/>
            <a:ext cx="3163824" cy="265176"/>
          </a:xfrm>
          <a:prstGeom prst="roundRect">
            <a:avLst>
              <a:gd name="adj" fmla="val 9000"/>
            </a:avLst>
          </a:prstGeom>
          <a:solidFill>
            <a:srgbClr val="E5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6" y="2110435"/>
            <a:ext cx="3035808" cy="182880"/>
          </a:xfrm>
          <a:prstGeom prst="rect">
            <a:avLst/>
          </a:prstGeom>
          <a:noFill/>
        </p:spPr>
        <p:txBody>
          <a:bodyPr wrap="square" lIns="0" rIns="0" tIns="0" bIns="0">
            <a:spAutoFit/>
          </a:bodyPr>
          <a:lstStyle/>
          <a:p>
            <a:pPr>
              <a:spcAft>
                <a:spcPts val="0"/>
              </a:spcAft>
              <a:defRPr sz="1000" b="1">
                <a:solidFill>
                  <a:srgbClr val="425E79"/>
                </a:solidFill>
                <a:latin typeface="Arial"/>
              </a:defRPr>
            </a:pPr>
            <a:r>
              <a:t>DEFINED FOR REVIEW</a:t>
            </a:r>
          </a:p>
        </p:txBody>
      </p:sp>
      <p:sp>
        <p:nvSpPr>
          <p:cNvPr id="18" name="TextBox 17"/>
          <p:cNvSpPr txBox="1"/>
          <p:nvPr/>
        </p:nvSpPr>
        <p:spPr>
          <a:xfrm>
            <a:off x="4517136" y="2724912"/>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16-role firm and communication map</a:t>
            </a:r>
          </a:p>
        </p:txBody>
      </p:sp>
      <p:sp>
        <p:nvSpPr>
          <p:cNvPr id="19" name="TextBox 18"/>
          <p:cNvSpPr txBox="1"/>
          <p:nvPr/>
        </p:nvSpPr>
        <p:spPr>
          <a:xfrm>
            <a:off x="4517136" y="3346704"/>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Agent and firm OODA loops</a:t>
            </a:r>
          </a:p>
        </p:txBody>
      </p:sp>
      <p:sp>
        <p:nvSpPr>
          <p:cNvPr id="20" name="TextBox 19"/>
          <p:cNvSpPr txBox="1"/>
          <p:nvPr/>
        </p:nvSpPr>
        <p:spPr>
          <a:xfrm>
            <a:off x="4517136" y="3968496"/>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23 draft task procedures</a:t>
            </a:r>
          </a:p>
        </p:txBody>
      </p:sp>
      <p:sp>
        <p:nvSpPr>
          <p:cNvPr id="21" name="TextBox 20"/>
          <p:cNvSpPr txBox="1"/>
          <p:nvPr/>
        </p:nvSpPr>
        <p:spPr>
          <a:xfrm>
            <a:off x="4517136" y="4590288"/>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Escalation and independent review rules</a:t>
            </a:r>
          </a:p>
        </p:txBody>
      </p:sp>
      <p:sp>
        <p:nvSpPr>
          <p:cNvPr id="22" name="Rounded Rectangle 21"/>
          <p:cNvSpPr/>
          <p:nvPr/>
        </p:nvSpPr>
        <p:spPr>
          <a:xfrm>
            <a:off x="8110727" y="1874519"/>
            <a:ext cx="3547872" cy="362102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93607" y="2057400"/>
            <a:ext cx="3163824" cy="265176"/>
          </a:xfrm>
          <a:prstGeom prst="roundRect">
            <a:avLst>
              <a:gd name="adj" fmla="val 9000"/>
            </a:avLst>
          </a:prstGeom>
          <a:solidFill>
            <a:srgbClr val="F3E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7615" y="2110435"/>
            <a:ext cx="3035808" cy="182880"/>
          </a:xfrm>
          <a:prstGeom prst="rect">
            <a:avLst/>
          </a:prstGeom>
          <a:noFill/>
        </p:spPr>
        <p:txBody>
          <a:bodyPr wrap="square" lIns="0" rIns="0" tIns="0" bIns="0">
            <a:spAutoFit/>
          </a:bodyPr>
          <a:lstStyle/>
          <a:p>
            <a:pPr>
              <a:spcAft>
                <a:spcPts val="0"/>
              </a:spcAft>
              <a:defRPr sz="1000" b="1">
                <a:solidFill>
                  <a:srgbClr val="9A6431"/>
                </a:solidFill>
                <a:latin typeface="Arial"/>
              </a:defRPr>
            </a:pPr>
            <a:r>
              <a:t>NEXT ENGINEERING</a:t>
            </a:r>
          </a:p>
        </p:txBody>
      </p:sp>
      <p:sp>
        <p:nvSpPr>
          <p:cNvPr id="25" name="TextBox 24"/>
          <p:cNvSpPr txBox="1"/>
          <p:nvPr/>
        </p:nvSpPr>
        <p:spPr>
          <a:xfrm>
            <a:off x="8311896" y="2724912"/>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Reliable capture and off-machine backup</a:t>
            </a:r>
          </a:p>
        </p:txBody>
      </p:sp>
      <p:sp>
        <p:nvSpPr>
          <p:cNvPr id="26" name="TextBox 25"/>
          <p:cNvSpPr txBox="1"/>
          <p:nvPr/>
        </p:nvSpPr>
        <p:spPr>
          <a:xfrm>
            <a:off x="8311896" y="3346704"/>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Automatic run registration and dispatch</a:t>
            </a:r>
          </a:p>
        </p:txBody>
      </p:sp>
      <p:sp>
        <p:nvSpPr>
          <p:cNvPr id="27" name="TextBox 26"/>
          <p:cNvSpPr txBox="1"/>
          <p:nvPr/>
        </p:nvSpPr>
        <p:spPr>
          <a:xfrm>
            <a:off x="8311896" y="3968496"/>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Bound message and escalation delivery</a:t>
            </a:r>
          </a:p>
        </p:txBody>
      </p:sp>
      <p:sp>
        <p:nvSpPr>
          <p:cNvPr id="28" name="TextBox 27"/>
          <p:cNvSpPr txBox="1"/>
          <p:nvPr/>
        </p:nvSpPr>
        <p:spPr>
          <a:xfrm>
            <a:off x="8311896" y="4590288"/>
            <a:ext cx="3136392" cy="576072"/>
          </a:xfrm>
          <a:prstGeom prst="rect">
            <a:avLst/>
          </a:prstGeom>
          <a:noFill/>
        </p:spPr>
        <p:txBody>
          <a:bodyPr wrap="square" lIns="0" rIns="0" tIns="0" bIns="0">
            <a:spAutoFit/>
          </a:bodyPr>
          <a:lstStyle/>
          <a:p>
            <a:pPr>
              <a:spcAft>
                <a:spcPts val="0"/>
              </a:spcAft>
              <a:defRPr sz="1800" b="0">
                <a:solidFill>
                  <a:srgbClr val="61736B"/>
                </a:solidFill>
                <a:latin typeface="Arial"/>
              </a:defRPr>
            </a:pPr>
            <a:r>
              <a:t>Historical role evaluation</a:t>
            </a:r>
          </a:p>
        </p:txBody>
      </p:sp>
      <p:sp>
        <p:nvSpPr>
          <p:cNvPr id="29" name="Rounded Rectangle 28"/>
          <p:cNvSpPr/>
          <p:nvPr/>
        </p:nvSpPr>
        <p:spPr>
          <a:xfrm>
            <a:off x="502920" y="5806440"/>
            <a:ext cx="11173968" cy="457200"/>
          </a:xfrm>
          <a:prstGeom prst="roundRect">
            <a:avLst>
              <a:gd name="adj" fmla="val 9000"/>
            </a:avLst>
          </a:prstGeom>
          <a:solidFill>
            <a:srgbClr val="F3E7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925312"/>
            <a:ext cx="10808208" cy="274320"/>
          </a:xfrm>
          <a:prstGeom prst="rect">
            <a:avLst/>
          </a:prstGeom>
          <a:noFill/>
        </p:spPr>
        <p:txBody>
          <a:bodyPr wrap="square" lIns="0" rIns="0" tIns="0" bIns="0">
            <a:spAutoFit/>
          </a:bodyPr>
          <a:lstStyle/>
          <a:p>
            <a:pPr>
              <a:spcAft>
                <a:spcPts val="0"/>
              </a:spcAft>
              <a:defRPr sz="1600" b="0">
                <a:solidFill>
                  <a:srgbClr val="1D302B"/>
                </a:solidFill>
                <a:latin typeface="Arial"/>
              </a:defRPr>
            </a:pPr>
            <a:r>
              <a:t>Local model search depends on its configured model server. A local catalogue is not a remote archive.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EF"/>
        </a:solidFill>
        <a:effectLst/>
      </p:bgPr>
    </p:bg>
    <p:spTree>
      <p:nvGrpSpPr>
        <p:cNvPr id="1" name=""/>
        <p:cNvGrpSpPr/>
        <p:nvPr/>
      </p:nvGrpSpPr>
      <p:grpSpPr/>
      <p:sp>
        <p:nvSpPr>
          <p:cNvPr id="2" name="TextBox 1"/>
          <p:cNvSpPr txBox="1"/>
          <p:nvPr/>
        </p:nvSpPr>
        <p:spPr>
          <a:xfrm>
            <a:off x="502920" y="274320"/>
            <a:ext cx="9144000" cy="201168"/>
          </a:xfrm>
          <a:prstGeom prst="rect">
            <a:avLst/>
          </a:prstGeom>
          <a:noFill/>
        </p:spPr>
        <p:txBody>
          <a:bodyPr wrap="square" lIns="0" rIns="0" tIns="0" bIns="0">
            <a:spAutoFit/>
          </a:bodyPr>
          <a:lstStyle/>
          <a:p>
            <a:pPr>
              <a:spcAft>
                <a:spcPts val="0"/>
              </a:spcAft>
              <a:defRPr sz="1000" b="1">
                <a:solidFill>
                  <a:srgbClr val="42694F"/>
                </a:solidFill>
                <a:latin typeface="Arial"/>
              </a:defRPr>
            </a:pPr>
            <a:r>
              <a:t>SYSTEMS DESIGN</a:t>
            </a:r>
          </a:p>
        </p:txBody>
      </p:sp>
      <p:sp>
        <p:nvSpPr>
          <p:cNvPr id="3" name="TextBox 2"/>
          <p:cNvSpPr txBox="1"/>
          <p:nvPr/>
        </p:nvSpPr>
        <p:spPr>
          <a:xfrm>
            <a:off x="502920" y="640080"/>
            <a:ext cx="11201400" cy="612648"/>
          </a:xfrm>
          <a:prstGeom prst="rect">
            <a:avLst/>
          </a:prstGeom>
          <a:noFill/>
        </p:spPr>
        <p:txBody>
          <a:bodyPr wrap="square" lIns="0" rIns="0" tIns="0" bIns="0">
            <a:spAutoFit/>
          </a:bodyPr>
          <a:lstStyle/>
          <a:p>
            <a:pPr>
              <a:spcAft>
                <a:spcPts val="0"/>
              </a:spcAft>
              <a:defRPr sz="3300" b="1">
                <a:solidFill>
                  <a:srgbClr val="1D302B"/>
                </a:solidFill>
                <a:latin typeface="Arial"/>
              </a:defRPr>
            </a:pPr>
            <a:r>
              <a:t>Next: prove one complete loop</a:t>
            </a:r>
          </a:p>
        </p:txBody>
      </p:sp>
      <p:sp>
        <p:nvSpPr>
          <p:cNvPr id="4" name="TextBox 3"/>
          <p:cNvSpPr txBox="1"/>
          <p:nvPr/>
        </p:nvSpPr>
        <p:spPr>
          <a:xfrm>
            <a:off x="521207" y="1280160"/>
            <a:ext cx="10972800" cy="475488"/>
          </a:xfrm>
          <a:prstGeom prst="rect">
            <a:avLst/>
          </a:prstGeom>
          <a:noFill/>
        </p:spPr>
        <p:txBody>
          <a:bodyPr wrap="square" lIns="0" rIns="0" tIns="0" bIns="0">
            <a:spAutoFit/>
          </a:bodyPr>
          <a:lstStyle/>
          <a:p>
            <a:pPr>
              <a:spcAft>
                <a:spcPts val="0"/>
              </a:spcAft>
              <a:defRPr sz="1700" b="0">
                <a:solidFill>
                  <a:srgbClr val="61736B"/>
                </a:solidFill>
                <a:latin typeface="Arial"/>
              </a:defRPr>
            </a:pPr>
            <a:r>
              <a:t>Start with one thread, one role, one useful output, and one independent judgment.</a:t>
            </a:r>
          </a:p>
        </p:txBody>
      </p:sp>
      <p:cxnSp>
        <p:nvCxnSpPr>
          <p:cNvPr id="5" name="Connector 4"/>
          <p:cNvCxnSpPr/>
          <p:nvPr/>
        </p:nvCxnSpPr>
        <p:spPr>
          <a:xfrm>
            <a:off x="502920" y="6492240"/>
            <a:ext cx="11183112" cy="0"/>
          </a:xfrm>
          <a:prstGeom prst="line">
            <a:avLst/>
          </a:prstGeom>
          <a:ln w="15240">
            <a:solidFill>
              <a:srgbClr val="CCD5C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83680"/>
            <a:ext cx="8229600" cy="148590"/>
          </a:xfrm>
          <a:prstGeom prst="rect">
            <a:avLst/>
          </a:prstGeom>
          <a:noFill/>
        </p:spPr>
        <p:txBody>
          <a:bodyPr wrap="square" lIns="0" rIns="0" tIns="0" bIns="0">
            <a:spAutoFit/>
          </a:bodyPr>
          <a:lstStyle/>
          <a:p>
            <a:pPr>
              <a:spcAft>
                <a:spcPts val="0"/>
              </a:spcAft>
              <a:defRPr sz="900" b="0">
                <a:solidFill>
                  <a:srgbClr val="61736B"/>
                </a:solidFill>
                <a:latin typeface="Arial"/>
              </a:defRPr>
            </a:pPr>
            <a:r>
              <a:t>SWARM  /  12 SEPTEMBER 2026  /  DESIGN REVIEW</a:t>
            </a:r>
          </a:p>
        </p:txBody>
      </p:sp>
      <p:sp>
        <p:nvSpPr>
          <p:cNvPr id="7" name="TextBox 6"/>
          <p:cNvSpPr txBox="1"/>
          <p:nvPr/>
        </p:nvSpPr>
        <p:spPr>
          <a:xfrm>
            <a:off x="11064240" y="6556248"/>
            <a:ext cx="603504" cy="182880"/>
          </a:xfrm>
          <a:prstGeom prst="rect">
            <a:avLst/>
          </a:prstGeom>
          <a:noFill/>
        </p:spPr>
        <p:txBody>
          <a:bodyPr wrap="square" lIns="0" rIns="0" tIns="0" bIns="0">
            <a:spAutoFit/>
          </a:bodyPr>
          <a:lstStyle/>
          <a:p>
            <a:pPr algn="r">
              <a:spcAft>
                <a:spcPts val="0"/>
              </a:spcAft>
              <a:defRPr sz="1000" b="0">
                <a:solidFill>
                  <a:srgbClr val="61736B"/>
                </a:solidFill>
                <a:latin typeface="Arial"/>
              </a:defRPr>
            </a:pPr>
            <a:r>
              <a:t>16</a:t>
            </a:r>
          </a:p>
        </p:txBody>
      </p:sp>
      <p:sp>
        <p:nvSpPr>
          <p:cNvPr id="8" name="Rounded Rectangle 7"/>
          <p:cNvSpPr/>
          <p:nvPr/>
        </p:nvSpPr>
        <p:spPr>
          <a:xfrm>
            <a:off x="521207" y="1947672"/>
            <a:ext cx="2587752" cy="302666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1" y="2148840"/>
            <a:ext cx="2167128" cy="495299"/>
          </a:xfrm>
          <a:prstGeom prst="rect">
            <a:avLst/>
          </a:prstGeom>
          <a:noFill/>
        </p:spPr>
        <p:txBody>
          <a:bodyPr wrap="square" lIns="0" rIns="0" tIns="0" bIns="0">
            <a:spAutoFit/>
          </a:bodyPr>
          <a:lstStyle/>
          <a:p>
            <a:pPr>
              <a:spcAft>
                <a:spcPts val="0"/>
              </a:spcAft>
              <a:defRPr sz="3000" b="1">
                <a:solidFill>
                  <a:srgbClr val="42694F"/>
                </a:solidFill>
                <a:latin typeface="Arial"/>
              </a:defRPr>
            </a:pPr>
            <a:r>
              <a:t>1</a:t>
            </a:r>
          </a:p>
        </p:txBody>
      </p:sp>
      <p:sp>
        <p:nvSpPr>
          <p:cNvPr id="10" name="TextBox 9"/>
          <p:cNvSpPr txBox="1"/>
          <p:nvPr/>
        </p:nvSpPr>
        <p:spPr>
          <a:xfrm>
            <a:off x="713231" y="2798064"/>
            <a:ext cx="2167128"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Resume</a:t>
            </a:r>
          </a:p>
        </p:txBody>
      </p:sp>
      <p:sp>
        <p:nvSpPr>
          <p:cNvPr id="11" name="TextBox 10"/>
          <p:cNvSpPr txBox="1"/>
          <p:nvPr/>
        </p:nvSpPr>
        <p:spPr>
          <a:xfrm>
            <a:off x="713231" y="3465576"/>
            <a:ext cx="2167128" cy="1124712"/>
          </a:xfrm>
          <a:prstGeom prst="rect">
            <a:avLst/>
          </a:prstGeom>
          <a:noFill/>
        </p:spPr>
        <p:txBody>
          <a:bodyPr wrap="square" lIns="0" rIns="0" tIns="0" bIns="0">
            <a:spAutoFit/>
          </a:bodyPr>
          <a:lstStyle/>
          <a:p>
            <a:pPr>
              <a:spcAft>
                <a:spcPts val="0"/>
              </a:spcAft>
              <a:defRPr sz="1800" b="0">
                <a:solidFill>
                  <a:srgbClr val="61736B"/>
                </a:solidFill>
                <a:latin typeface="Arial"/>
              </a:defRPr>
            </a:pPr>
            <a:r>
              <a:t>Supply the role, thread ID, and current assignment.</a:t>
            </a:r>
          </a:p>
        </p:txBody>
      </p:sp>
      <p:sp>
        <p:nvSpPr>
          <p:cNvPr id="12" name="Rounded Rectangle 11"/>
          <p:cNvSpPr/>
          <p:nvPr/>
        </p:nvSpPr>
        <p:spPr>
          <a:xfrm>
            <a:off x="3383279" y="1947672"/>
            <a:ext cx="2587752" cy="302666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3" y="2148840"/>
            <a:ext cx="2167128" cy="495299"/>
          </a:xfrm>
          <a:prstGeom prst="rect">
            <a:avLst/>
          </a:prstGeom>
          <a:noFill/>
        </p:spPr>
        <p:txBody>
          <a:bodyPr wrap="square" lIns="0" rIns="0" tIns="0" bIns="0">
            <a:spAutoFit/>
          </a:bodyPr>
          <a:lstStyle/>
          <a:p>
            <a:pPr>
              <a:spcAft>
                <a:spcPts val="0"/>
              </a:spcAft>
              <a:defRPr sz="3000" b="1">
                <a:solidFill>
                  <a:srgbClr val="42694F"/>
                </a:solidFill>
                <a:latin typeface="Arial"/>
              </a:defRPr>
            </a:pPr>
            <a:r>
              <a:t>2</a:t>
            </a:r>
          </a:p>
        </p:txBody>
      </p:sp>
      <p:sp>
        <p:nvSpPr>
          <p:cNvPr id="14" name="TextBox 13"/>
          <p:cNvSpPr txBox="1"/>
          <p:nvPr/>
        </p:nvSpPr>
        <p:spPr>
          <a:xfrm>
            <a:off x="3575303" y="2798064"/>
            <a:ext cx="2167128"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Produce</a:t>
            </a:r>
          </a:p>
        </p:txBody>
      </p:sp>
      <p:sp>
        <p:nvSpPr>
          <p:cNvPr id="15" name="TextBox 14"/>
          <p:cNvSpPr txBox="1"/>
          <p:nvPr/>
        </p:nvSpPr>
        <p:spPr>
          <a:xfrm>
            <a:off x="3575303" y="3465576"/>
            <a:ext cx="2167128" cy="1124712"/>
          </a:xfrm>
          <a:prstGeom prst="rect">
            <a:avLst/>
          </a:prstGeom>
          <a:noFill/>
        </p:spPr>
        <p:txBody>
          <a:bodyPr wrap="square" lIns="0" rIns="0" tIns="0" bIns="0">
            <a:spAutoFit/>
          </a:bodyPr>
          <a:lstStyle/>
          <a:p>
            <a:pPr>
              <a:spcAft>
                <a:spcPts val="300"/>
              </a:spcAft>
              <a:defRPr sz="1800" b="0">
                <a:solidFill>
                  <a:srgbClr val="61736B"/>
                </a:solidFill>
                <a:latin typeface="Arial"/>
              </a:defRPr>
            </a:pPr>
            <a:r>
              <a:t>Read the evidence.</a:t>
            </a:r>
          </a:p>
          <a:p>
            <a:pPr>
              <a:spcAft>
                <a:spcPts val="300"/>
              </a:spcAft>
              <a:defRPr sz="1800" b="0">
                <a:solidFill>
                  <a:srgbClr val="61736B"/>
                </a:solidFill>
                <a:latin typeface="Arial"/>
              </a:defRPr>
            </a:pPr>
            <a:r>
              <a:t>Do the task.</a:t>
            </a:r>
          </a:p>
          <a:p>
            <a:pPr>
              <a:spcAft>
                <a:spcPts val="300"/>
              </a:spcAft>
              <a:defRPr sz="1800" b="0">
                <a:solidFill>
                  <a:srgbClr val="61736B"/>
                </a:solidFill>
                <a:latin typeface="Arial"/>
              </a:defRPr>
            </a:pPr>
            <a:r>
              <a:t>Return the result.</a:t>
            </a:r>
          </a:p>
        </p:txBody>
      </p:sp>
      <p:sp>
        <p:nvSpPr>
          <p:cNvPr id="16" name="Rounded Rectangle 15"/>
          <p:cNvSpPr/>
          <p:nvPr/>
        </p:nvSpPr>
        <p:spPr>
          <a:xfrm>
            <a:off x="6245352" y="1947672"/>
            <a:ext cx="2587752" cy="302666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148840"/>
            <a:ext cx="2167128" cy="495299"/>
          </a:xfrm>
          <a:prstGeom prst="rect">
            <a:avLst/>
          </a:prstGeom>
          <a:noFill/>
        </p:spPr>
        <p:txBody>
          <a:bodyPr wrap="square" lIns="0" rIns="0" tIns="0" bIns="0">
            <a:spAutoFit/>
          </a:bodyPr>
          <a:lstStyle/>
          <a:p>
            <a:pPr>
              <a:spcAft>
                <a:spcPts val="0"/>
              </a:spcAft>
              <a:defRPr sz="3000" b="1">
                <a:solidFill>
                  <a:srgbClr val="42694F"/>
                </a:solidFill>
                <a:latin typeface="Arial"/>
              </a:defRPr>
            </a:pPr>
            <a:r>
              <a:t>3</a:t>
            </a:r>
          </a:p>
        </p:txBody>
      </p:sp>
      <p:sp>
        <p:nvSpPr>
          <p:cNvPr id="18" name="TextBox 17"/>
          <p:cNvSpPr txBox="1"/>
          <p:nvPr/>
        </p:nvSpPr>
        <p:spPr>
          <a:xfrm>
            <a:off x="6437376" y="2798064"/>
            <a:ext cx="2167128"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Review</a:t>
            </a:r>
          </a:p>
        </p:txBody>
      </p:sp>
      <p:sp>
        <p:nvSpPr>
          <p:cNvPr id="19" name="TextBox 18"/>
          <p:cNvSpPr txBox="1"/>
          <p:nvPr/>
        </p:nvSpPr>
        <p:spPr>
          <a:xfrm>
            <a:off x="6437376" y="3465576"/>
            <a:ext cx="2167128" cy="1124712"/>
          </a:xfrm>
          <a:prstGeom prst="rect">
            <a:avLst/>
          </a:prstGeom>
          <a:noFill/>
        </p:spPr>
        <p:txBody>
          <a:bodyPr wrap="square" lIns="0" rIns="0" tIns="0" bIns="0">
            <a:spAutoFit/>
          </a:bodyPr>
          <a:lstStyle/>
          <a:p>
            <a:pPr>
              <a:spcAft>
                <a:spcPts val="0"/>
              </a:spcAft>
              <a:defRPr sz="1800" b="0">
                <a:solidFill>
                  <a:srgbClr val="61736B"/>
                </a:solidFill>
                <a:latin typeface="Arial"/>
              </a:defRPr>
            </a:pPr>
            <a:r>
              <a:t>Accept it, request corrections, or identify a concrete blocker.</a:t>
            </a:r>
          </a:p>
        </p:txBody>
      </p:sp>
      <p:sp>
        <p:nvSpPr>
          <p:cNvPr id="20" name="Rounded Rectangle 19"/>
          <p:cNvSpPr/>
          <p:nvPr/>
        </p:nvSpPr>
        <p:spPr>
          <a:xfrm>
            <a:off x="9107424" y="1947672"/>
            <a:ext cx="2587752" cy="3026664"/>
          </a:xfrm>
          <a:prstGeom prst="roundRect">
            <a:avLst>
              <a:gd name="adj" fmla="val 9000"/>
            </a:avLst>
          </a:prstGeom>
          <a:solidFill>
            <a:srgbClr val="FFFFFF"/>
          </a:solidFill>
          <a:ln w="10160">
            <a:solidFill>
              <a:srgbClr val="CCD5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148840"/>
            <a:ext cx="2167128" cy="495299"/>
          </a:xfrm>
          <a:prstGeom prst="rect">
            <a:avLst/>
          </a:prstGeom>
          <a:noFill/>
        </p:spPr>
        <p:txBody>
          <a:bodyPr wrap="square" lIns="0" rIns="0" tIns="0" bIns="0">
            <a:spAutoFit/>
          </a:bodyPr>
          <a:lstStyle/>
          <a:p>
            <a:pPr>
              <a:spcAft>
                <a:spcPts val="0"/>
              </a:spcAft>
              <a:defRPr sz="3000" b="1">
                <a:solidFill>
                  <a:srgbClr val="42694F"/>
                </a:solidFill>
                <a:latin typeface="Arial"/>
              </a:defRPr>
            </a:pPr>
            <a:r>
              <a:t>4</a:t>
            </a:r>
          </a:p>
        </p:txBody>
      </p:sp>
      <p:sp>
        <p:nvSpPr>
          <p:cNvPr id="22" name="TextBox 21"/>
          <p:cNvSpPr txBox="1"/>
          <p:nvPr/>
        </p:nvSpPr>
        <p:spPr>
          <a:xfrm>
            <a:off x="9299448" y="2798064"/>
            <a:ext cx="2167128" cy="379730"/>
          </a:xfrm>
          <a:prstGeom prst="rect">
            <a:avLst/>
          </a:prstGeom>
          <a:noFill/>
        </p:spPr>
        <p:txBody>
          <a:bodyPr wrap="square" lIns="0" rIns="0" tIns="0" bIns="0">
            <a:spAutoFit/>
          </a:bodyPr>
          <a:lstStyle/>
          <a:p>
            <a:pPr>
              <a:spcAft>
                <a:spcPts val="0"/>
              </a:spcAft>
              <a:defRPr sz="2300" b="1">
                <a:solidFill>
                  <a:srgbClr val="1D302B"/>
                </a:solidFill>
                <a:latin typeface="Arial"/>
              </a:defRPr>
            </a:pPr>
            <a:r>
              <a:t>Preserve</a:t>
            </a:r>
          </a:p>
        </p:txBody>
      </p:sp>
      <p:sp>
        <p:nvSpPr>
          <p:cNvPr id="23" name="TextBox 22"/>
          <p:cNvSpPr txBox="1"/>
          <p:nvPr/>
        </p:nvSpPr>
        <p:spPr>
          <a:xfrm>
            <a:off x="9299448" y="3465576"/>
            <a:ext cx="2167128" cy="1124712"/>
          </a:xfrm>
          <a:prstGeom prst="rect">
            <a:avLst/>
          </a:prstGeom>
          <a:noFill/>
        </p:spPr>
        <p:txBody>
          <a:bodyPr wrap="square" lIns="0" rIns="0" tIns="0" bIns="0">
            <a:spAutoFit/>
          </a:bodyPr>
          <a:lstStyle/>
          <a:p>
            <a:pPr>
              <a:spcAft>
                <a:spcPts val="0"/>
              </a:spcAft>
              <a:defRPr sz="1800" b="0">
                <a:solidFill>
                  <a:srgbClr val="61736B"/>
                </a:solidFill>
                <a:latin typeface="Arial"/>
              </a:defRPr>
            </a:pPr>
            <a:r>
              <a:t>Link the trace, checkpoint, output, and judgment to the thread.</a:t>
            </a:r>
          </a:p>
        </p:txBody>
      </p:sp>
      <p:sp>
        <p:nvSpPr>
          <p:cNvPr id="24" name="Rounded Rectangle 23"/>
          <p:cNvSpPr/>
          <p:nvPr/>
        </p:nvSpPr>
        <p:spPr>
          <a:xfrm>
            <a:off x="521207" y="5404104"/>
            <a:ext cx="11155680" cy="649224"/>
          </a:xfrm>
          <a:prstGeom prst="roundRect">
            <a:avLst>
              <a:gd name="adj" fmla="val 9000"/>
            </a:avLst>
          </a:prstGeom>
          <a:solidFill>
            <a:srgbClr val="1D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605272"/>
            <a:ext cx="10652760" cy="365760"/>
          </a:xfrm>
          <a:prstGeom prst="rect">
            <a:avLst/>
          </a:prstGeom>
          <a:noFill/>
        </p:spPr>
        <p:txBody>
          <a:bodyPr wrap="square" lIns="0" rIns="0" tIns="0" bIns="0">
            <a:spAutoFit/>
          </a:bodyPr>
          <a:lstStyle/>
          <a:p>
            <a:pPr>
              <a:spcAft>
                <a:spcPts val="0"/>
              </a:spcAft>
              <a:defRPr sz="2100" b="1">
                <a:solidFill>
                  <a:srgbClr val="FFFFFF"/>
                </a:solidFill>
                <a:latin typeface="Arial"/>
              </a:defRPr>
            </a:pPr>
            <a:r>
              <a:t>Automate the loop. Compare role versions. Preserve the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Swarm | Systems design</dc:title>
  <dc:subject>memoryNet, personas and skills, runtime, and controlled evolution</dc:subject>
  <dc:creator>Campbell / Swarm</dc:creator>
  <cp:keywords>memoryNet, agent identity, personas, skills, OODA, evolution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